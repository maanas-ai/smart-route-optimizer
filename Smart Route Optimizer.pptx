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5" r:id="rId3"/>
    <p:sldId id="257" r:id="rId4"/>
    <p:sldId id="258" r:id="rId5"/>
    <p:sldId id="259" r:id="rId6"/>
    <p:sldId id="260" r:id="rId7"/>
    <p:sldId id="263" r:id="rId8"/>
    <p:sldId id="264" r:id="rId9"/>
    <p:sldId id="266" r:id="rId10"/>
    <p:sldId id="267" r:id="rId11"/>
    <p:sldId id="268" r:id="rId12"/>
    <p:sldId id="269" r:id="rId13"/>
    <p:sldId id="270"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6148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2"/>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7F1"/>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DCEEE2"/>
          </a:solidFill>
          <a:ln/>
        </p:spPr>
      </p:sp>
      <p:sp>
        <p:nvSpPr>
          <p:cNvPr id="3" name="Shape 1"/>
          <p:cNvSpPr/>
          <p:nvPr/>
        </p:nvSpPr>
        <p:spPr>
          <a:xfrm>
            <a:off x="10607040" y="4206240"/>
            <a:ext cx="3291840" cy="3291840"/>
          </a:xfrm>
          <a:prstGeom prst="ellipse">
            <a:avLst/>
          </a:prstGeom>
          <a:solidFill>
            <a:srgbClr val="DCEEE2"/>
          </a:solidFill>
          <a:ln/>
        </p:spPr>
      </p:sp>
      <p:sp>
        <p:nvSpPr>
          <p:cNvPr id="4" name="Text 2"/>
          <p:cNvSpPr/>
          <p:nvPr/>
        </p:nvSpPr>
        <p:spPr>
          <a:xfrm>
            <a:off x="731520" y="1234440"/>
            <a:ext cx="7315200" cy="365760"/>
          </a:xfrm>
          <a:prstGeom prst="rect">
            <a:avLst/>
          </a:prstGeom>
          <a:noFill/>
          <a:ln/>
        </p:spPr>
        <p:txBody>
          <a:bodyPr wrap="square" lIns="0" tIns="0" rIns="0" bIns="0" rtlCol="0" anchor="ctr"/>
          <a:lstStyle/>
          <a:p>
            <a:pPr marL="0" indent="0">
              <a:buNone/>
            </a:pPr>
            <a:r>
              <a:rPr lang="en-US" sz="1300" b="1" kern="0" spc="300" dirty="0">
                <a:solidFill>
                  <a:srgbClr val="1F6B45"/>
                </a:solidFill>
                <a:latin typeface="Calibri" pitchFamily="34" charset="0"/>
                <a:ea typeface="Calibri" pitchFamily="34" charset="-122"/>
                <a:cs typeface="Calibri" pitchFamily="34" charset="-120"/>
              </a:rPr>
              <a:t>SMART CITY  •  IoT PROJECT</a:t>
            </a:r>
            <a:endParaRPr lang="en-US" sz="1300" dirty="0"/>
          </a:p>
        </p:txBody>
      </p:sp>
      <p:sp>
        <p:nvSpPr>
          <p:cNvPr id="5" name="Text 3"/>
          <p:cNvSpPr/>
          <p:nvPr/>
        </p:nvSpPr>
        <p:spPr>
          <a:xfrm>
            <a:off x="731520" y="1691640"/>
            <a:ext cx="9875520" cy="2103120"/>
          </a:xfrm>
          <a:prstGeom prst="rect">
            <a:avLst/>
          </a:prstGeom>
          <a:noFill/>
          <a:ln/>
        </p:spPr>
        <p:txBody>
          <a:bodyPr wrap="square" lIns="0" tIns="0" rIns="0" bIns="0" rtlCol="0" anchor="ctr"/>
          <a:lstStyle/>
          <a:p>
            <a:pPr marL="0" indent="0">
              <a:lnSpc>
                <a:spcPct val="105000"/>
              </a:lnSpc>
              <a:buNone/>
            </a:pPr>
            <a:r>
              <a:rPr lang="en-US" sz="4000" b="1" dirty="0">
                <a:solidFill>
                  <a:srgbClr val="12301F"/>
                </a:solidFill>
                <a:latin typeface="Cambria" pitchFamily="34" charset="0"/>
                <a:ea typeface="Cambria" pitchFamily="34" charset="-122"/>
                <a:cs typeface="Cambria" pitchFamily="34" charset="-120"/>
              </a:rPr>
              <a:t>Smart House-to-House</a:t>
            </a:r>
            <a:endParaRPr lang="en-US" sz="4000" dirty="0"/>
          </a:p>
          <a:p>
            <a:pPr marL="0" indent="0">
              <a:lnSpc>
                <a:spcPct val="105000"/>
              </a:lnSpc>
              <a:buNone/>
            </a:pPr>
            <a:r>
              <a:rPr lang="en-US" sz="4000" b="1" dirty="0">
                <a:solidFill>
                  <a:srgbClr val="12301F"/>
                </a:solidFill>
                <a:latin typeface="Cambria" pitchFamily="34" charset="0"/>
                <a:ea typeface="Cambria" pitchFamily="34" charset="-122"/>
                <a:cs typeface="Cambria" pitchFamily="34" charset="-120"/>
              </a:rPr>
              <a:t>Garbage Collection Route Optimizer</a:t>
            </a:r>
            <a:endParaRPr lang="en-US" sz="4000" dirty="0"/>
          </a:p>
        </p:txBody>
      </p:sp>
      <p:sp>
        <p:nvSpPr>
          <p:cNvPr id="6" name="Text 4"/>
          <p:cNvSpPr/>
          <p:nvPr/>
        </p:nvSpPr>
        <p:spPr>
          <a:xfrm>
            <a:off x="731520" y="3886200"/>
            <a:ext cx="7315200" cy="457200"/>
          </a:xfrm>
          <a:prstGeom prst="rect">
            <a:avLst/>
          </a:prstGeom>
          <a:noFill/>
          <a:ln/>
        </p:spPr>
        <p:txBody>
          <a:bodyPr wrap="square" lIns="0" tIns="0" rIns="0" bIns="0" rtlCol="0" anchor="ctr"/>
          <a:lstStyle/>
          <a:p>
            <a:pPr marL="0" indent="0">
              <a:buNone/>
            </a:pPr>
            <a:r>
              <a:rPr lang="en-US" sz="1900" i="1" dirty="0">
                <a:solidFill>
                  <a:srgbClr val="4B6355"/>
                </a:solidFill>
                <a:latin typeface="Calibri" pitchFamily="34" charset="0"/>
                <a:ea typeface="Calibri" pitchFamily="34" charset="-122"/>
                <a:cs typeface="Calibri" pitchFamily="34" charset="-120"/>
              </a:rPr>
              <a:t>Using IoT for Smart Cities</a:t>
            </a:r>
            <a:endParaRPr lang="en-US" sz="1900" dirty="0"/>
          </a:p>
        </p:txBody>
      </p:sp>
      <p:sp>
        <p:nvSpPr>
          <p:cNvPr id="7" name="Text 5"/>
          <p:cNvSpPr/>
          <p:nvPr/>
        </p:nvSpPr>
        <p:spPr>
          <a:xfrm>
            <a:off x="731520" y="4526280"/>
            <a:ext cx="1737360" cy="365760"/>
          </a:xfrm>
          <a:prstGeom prst="rect">
            <a:avLst/>
          </a:prstGeom>
          <a:solidFill>
            <a:srgbClr val="8BC34A"/>
          </a:solidFill>
          <a:ln/>
        </p:spPr>
        <p:txBody>
          <a:bodyPr wrap="square" lIns="0" tIns="0" rIns="0" bIns="0" rtlCol="0" anchor="ctr"/>
          <a:lstStyle/>
          <a:p>
            <a:pPr marL="0" indent="0" algn="ctr">
              <a:buNone/>
            </a:pPr>
            <a:r>
              <a:rPr lang="en-US" sz="1200" b="1" dirty="0">
                <a:solidFill>
                  <a:srgbClr val="0B2E1F"/>
                </a:solidFill>
                <a:latin typeface="Calibri" pitchFamily="34" charset="0"/>
                <a:ea typeface="Calibri" pitchFamily="34" charset="-122"/>
                <a:cs typeface="Calibri" pitchFamily="34" charset="-120"/>
              </a:rPr>
              <a:t>Smart Route</a:t>
            </a:r>
            <a:endParaRPr lang="en-US" sz="1200" dirty="0"/>
          </a:p>
        </p:txBody>
      </p:sp>
      <p:sp>
        <p:nvSpPr>
          <p:cNvPr id="8" name="Text 6"/>
          <p:cNvSpPr/>
          <p:nvPr/>
        </p:nvSpPr>
        <p:spPr>
          <a:xfrm>
            <a:off x="2606040" y="4526280"/>
            <a:ext cx="1737360" cy="365760"/>
          </a:xfrm>
          <a:prstGeom prst="rect">
            <a:avLst/>
          </a:prstGeom>
          <a:solidFill>
            <a:srgbClr val="8BC34A"/>
          </a:solidFill>
          <a:ln/>
        </p:spPr>
        <p:txBody>
          <a:bodyPr wrap="square" lIns="0" tIns="0" rIns="0" bIns="0" rtlCol="0" anchor="ctr"/>
          <a:lstStyle/>
          <a:p>
            <a:pPr marL="0" indent="0" algn="ctr">
              <a:buNone/>
            </a:pPr>
            <a:r>
              <a:rPr lang="en-US" sz="1200" b="1" dirty="0">
                <a:solidFill>
                  <a:srgbClr val="0B2E1F"/>
                </a:solidFill>
                <a:latin typeface="Calibri" pitchFamily="34" charset="0"/>
                <a:ea typeface="Calibri" pitchFamily="34" charset="-122"/>
                <a:cs typeface="Calibri" pitchFamily="34" charset="-120"/>
              </a:rPr>
              <a:t>Clean City</a:t>
            </a:r>
            <a:endParaRPr lang="en-US" sz="1200" dirty="0"/>
          </a:p>
        </p:txBody>
      </p:sp>
      <p:sp>
        <p:nvSpPr>
          <p:cNvPr id="9" name="Text 7"/>
          <p:cNvSpPr/>
          <p:nvPr/>
        </p:nvSpPr>
        <p:spPr>
          <a:xfrm>
            <a:off x="4480560" y="4526280"/>
            <a:ext cx="1737360" cy="365760"/>
          </a:xfrm>
          <a:prstGeom prst="rect">
            <a:avLst/>
          </a:prstGeom>
          <a:solidFill>
            <a:srgbClr val="8BC34A"/>
          </a:solidFill>
          <a:ln/>
        </p:spPr>
        <p:txBody>
          <a:bodyPr wrap="square" lIns="0" tIns="0" rIns="0" bIns="0" rtlCol="0" anchor="ctr"/>
          <a:lstStyle/>
          <a:p>
            <a:pPr marL="0" indent="0" algn="ctr">
              <a:buNone/>
            </a:pPr>
            <a:r>
              <a:rPr lang="en-US" sz="1200" b="1" dirty="0">
                <a:solidFill>
                  <a:srgbClr val="0B2E1F"/>
                </a:solidFill>
                <a:latin typeface="Calibri" pitchFamily="34" charset="0"/>
                <a:ea typeface="Calibri" pitchFamily="34" charset="-122"/>
                <a:cs typeface="Calibri" pitchFamily="34" charset="-120"/>
              </a:rPr>
              <a:t>Green Future</a:t>
            </a:r>
            <a:endParaRPr lang="en-US" sz="1200" dirty="0"/>
          </a:p>
        </p:txBody>
      </p:sp>
      <p:sp>
        <p:nvSpPr>
          <p:cNvPr id="10" name="Shape 8"/>
          <p:cNvSpPr/>
          <p:nvPr/>
        </p:nvSpPr>
        <p:spPr>
          <a:xfrm>
            <a:off x="7863840" y="5989320"/>
            <a:ext cx="109728" cy="109728"/>
          </a:xfrm>
          <a:prstGeom prst="ellipse">
            <a:avLst/>
          </a:prstGeom>
          <a:solidFill>
            <a:srgbClr val="8BC34A"/>
          </a:solidFill>
          <a:ln/>
        </p:spPr>
      </p:sp>
      <p:sp>
        <p:nvSpPr>
          <p:cNvPr id="11" name="Shape 9"/>
          <p:cNvSpPr/>
          <p:nvPr/>
        </p:nvSpPr>
        <p:spPr>
          <a:xfrm>
            <a:off x="8247888" y="5989320"/>
            <a:ext cx="109728" cy="109728"/>
          </a:xfrm>
          <a:prstGeom prst="ellipse">
            <a:avLst/>
          </a:prstGeom>
          <a:solidFill>
            <a:srgbClr val="8BC34A"/>
          </a:solidFill>
          <a:ln/>
        </p:spPr>
      </p:sp>
      <p:sp>
        <p:nvSpPr>
          <p:cNvPr id="12" name="Shape 10"/>
          <p:cNvSpPr/>
          <p:nvPr/>
        </p:nvSpPr>
        <p:spPr>
          <a:xfrm>
            <a:off x="8631936" y="5989320"/>
            <a:ext cx="109728" cy="109728"/>
          </a:xfrm>
          <a:prstGeom prst="ellipse">
            <a:avLst/>
          </a:prstGeom>
          <a:solidFill>
            <a:srgbClr val="8BC34A"/>
          </a:solidFill>
          <a:ln/>
        </p:spPr>
      </p:sp>
      <p:sp>
        <p:nvSpPr>
          <p:cNvPr id="13" name="Shape 11"/>
          <p:cNvSpPr/>
          <p:nvPr/>
        </p:nvSpPr>
        <p:spPr>
          <a:xfrm>
            <a:off x="9015984" y="5989320"/>
            <a:ext cx="109728" cy="109728"/>
          </a:xfrm>
          <a:prstGeom prst="ellipse">
            <a:avLst/>
          </a:prstGeom>
          <a:solidFill>
            <a:srgbClr val="8BC34A"/>
          </a:solidFill>
          <a:ln/>
        </p:spPr>
      </p:sp>
      <p:sp>
        <p:nvSpPr>
          <p:cNvPr id="14" name="Shape 12"/>
          <p:cNvSpPr/>
          <p:nvPr/>
        </p:nvSpPr>
        <p:spPr>
          <a:xfrm>
            <a:off x="9400032" y="5989320"/>
            <a:ext cx="109728" cy="109728"/>
          </a:xfrm>
          <a:prstGeom prst="ellipse">
            <a:avLst/>
          </a:prstGeom>
          <a:solidFill>
            <a:srgbClr val="8BC34A"/>
          </a:solidFill>
          <a:ln/>
        </p:spPr>
      </p:sp>
      <p:sp>
        <p:nvSpPr>
          <p:cNvPr id="15" name="Shape 13"/>
          <p:cNvSpPr/>
          <p:nvPr/>
        </p:nvSpPr>
        <p:spPr>
          <a:xfrm>
            <a:off x="9784080" y="5989320"/>
            <a:ext cx="109728" cy="109728"/>
          </a:xfrm>
          <a:prstGeom prst="ellipse">
            <a:avLst/>
          </a:prstGeom>
          <a:solidFill>
            <a:srgbClr val="8BC34A"/>
          </a:solidFill>
          <a:ln/>
        </p:spPr>
      </p:sp>
      <p:sp>
        <p:nvSpPr>
          <p:cNvPr id="16" name="Shape 14"/>
          <p:cNvSpPr/>
          <p:nvPr/>
        </p:nvSpPr>
        <p:spPr>
          <a:xfrm>
            <a:off x="10168128" y="5989320"/>
            <a:ext cx="109728" cy="109728"/>
          </a:xfrm>
          <a:prstGeom prst="ellipse">
            <a:avLst/>
          </a:prstGeom>
          <a:solidFill>
            <a:srgbClr val="8BC34A"/>
          </a:solidFill>
          <a:ln/>
        </p:spPr>
      </p:sp>
      <p:sp>
        <p:nvSpPr>
          <p:cNvPr id="17" name="Shape 15"/>
          <p:cNvSpPr/>
          <p:nvPr/>
        </p:nvSpPr>
        <p:spPr>
          <a:xfrm>
            <a:off x="10552176" y="5989320"/>
            <a:ext cx="109728" cy="109728"/>
          </a:xfrm>
          <a:prstGeom prst="ellipse">
            <a:avLst/>
          </a:prstGeom>
          <a:solidFill>
            <a:srgbClr val="8BC34A"/>
          </a:solidFill>
          <a:ln/>
        </p:spPr>
      </p:sp>
      <p:sp>
        <p:nvSpPr>
          <p:cNvPr id="18" name="Shape 16"/>
          <p:cNvSpPr/>
          <p:nvPr/>
        </p:nvSpPr>
        <p:spPr>
          <a:xfrm>
            <a:off x="10936224" y="5989320"/>
            <a:ext cx="109728" cy="109728"/>
          </a:xfrm>
          <a:prstGeom prst="ellipse">
            <a:avLst/>
          </a:prstGeom>
          <a:solidFill>
            <a:srgbClr val="8BC34A"/>
          </a:solidFill>
          <a:ln/>
        </p:spPr>
      </p:sp>
      <p:sp>
        <p:nvSpPr>
          <p:cNvPr id="19" name="Shape 17"/>
          <p:cNvSpPr/>
          <p:nvPr/>
        </p:nvSpPr>
        <p:spPr>
          <a:xfrm>
            <a:off x="11109960" y="5833872"/>
            <a:ext cx="502920" cy="411480"/>
          </a:xfrm>
          <a:prstGeom prst="roundRect">
            <a:avLst>
              <a:gd name="adj" fmla="val 13333"/>
            </a:avLst>
          </a:prstGeom>
          <a:solidFill>
            <a:srgbClr val="8BC34A"/>
          </a:solidFill>
          <a:ln/>
        </p:spPr>
      </p:sp>
      <p:sp>
        <p:nvSpPr>
          <p:cNvPr id="20" name="Text 18"/>
          <p:cNvSpPr/>
          <p:nvPr/>
        </p:nvSpPr>
        <p:spPr>
          <a:xfrm>
            <a:off x="11109960" y="5833872"/>
            <a:ext cx="502920" cy="41148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731520" y="6355080"/>
            <a:ext cx="8229600" cy="320040"/>
          </a:xfrm>
          <a:prstGeom prst="rect">
            <a:avLst/>
          </a:prstGeom>
          <a:noFill/>
          <a:ln/>
        </p:spPr>
        <p:txBody>
          <a:bodyPr wrap="square" lIns="0" tIns="0" rIns="0" bIns="0" rtlCol="0" anchor="ctr"/>
          <a:lstStyle/>
          <a:p>
            <a:pPr marL="0" indent="0">
              <a:buNone/>
            </a:pPr>
            <a:r>
              <a:rPr lang="en-US" sz="1000" dirty="0">
                <a:solidFill>
                  <a:srgbClr val="4B6355"/>
                </a:solidFill>
                <a:latin typeface="Calibri" pitchFamily="34" charset="0"/>
                <a:ea typeface="Calibri" pitchFamily="34" charset="-122"/>
                <a:cs typeface="Calibri" pitchFamily="34" charset="-120"/>
              </a:rPr>
              <a:t>Smart Garbage Monitoring System — Project Presentation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0">
    <p:bg>
      <p:bgPr>
        <a:solidFill>
          <a:srgbClr val="EEF7F1"/>
        </a:solidFill>
        <a:effectLst/>
      </p:bgPr>
    </p:bg>
    <p:spTree>
      <p:nvGrpSpPr>
        <p:cNvPr id="1" name=""/>
        <p:cNvGrpSpPr/>
        <p:nvPr/>
      </p:nvGrpSpPr>
      <p:grpSpPr>
        <a:xfrm>
          <a:off x="0" y="0"/>
          <a:ext cx="0" cy="0"/>
          <a:chOff x="0" y="0"/>
          <a:chExt cx="0" cy="0"/>
        </a:xfrm>
      </p:grpSpPr>
      <p:sp>
        <p:nvSpPr>
          <p:cNvPr id="2" name="Shape 0"/>
          <p:cNvSpPr/>
          <p:nvPr/>
        </p:nvSpPr>
        <p:spPr>
          <a:xfrm>
            <a:off x="-1828800" y="4754880"/>
            <a:ext cx="5486400" cy="5486400"/>
          </a:xfrm>
          <a:prstGeom prst="ellipse">
            <a:avLst/>
          </a:prstGeom>
          <a:solidFill>
            <a:srgbClr val="DCEEE2"/>
          </a:solidFill>
          <a:ln/>
        </p:spPr>
      </p:sp>
      <p:sp>
        <p:nvSpPr>
          <p:cNvPr id="3" name="Shape 1"/>
          <p:cNvSpPr/>
          <p:nvPr/>
        </p:nvSpPr>
        <p:spPr>
          <a:xfrm>
            <a:off x="9875520" y="-2286000"/>
            <a:ext cx="4572000" cy="4572000"/>
          </a:xfrm>
          <a:prstGeom prst="ellipse">
            <a:avLst/>
          </a:prstGeom>
          <a:solidFill>
            <a:srgbClr val="DCEEE2"/>
          </a:solidFill>
          <a:ln/>
        </p:spPr>
      </p:sp>
      <p:sp>
        <p:nvSpPr>
          <p:cNvPr id="4" name="Text 2"/>
          <p:cNvSpPr/>
          <p:nvPr/>
        </p:nvSpPr>
        <p:spPr>
          <a:xfrm>
            <a:off x="548640" y="502920"/>
            <a:ext cx="9144000" cy="320040"/>
          </a:xfrm>
          <a:prstGeom prst="rect">
            <a:avLst/>
          </a:prstGeom>
          <a:noFill/>
          <a:ln/>
        </p:spPr>
        <p:txBody>
          <a:bodyPr wrap="square" lIns="0" tIns="0" rIns="0" bIns="0" rtlCol="0" anchor="ctr"/>
          <a:lstStyle/>
          <a:p>
            <a:pPr marL="0" indent="0">
              <a:buNone/>
            </a:pPr>
            <a:r>
              <a:rPr lang="en-US" sz="1200" b="1" kern="0" spc="200" dirty="0">
                <a:solidFill>
                  <a:srgbClr val="1F6B45"/>
                </a:solidFill>
                <a:latin typeface="Calibri" pitchFamily="34" charset="0"/>
                <a:ea typeface="Calibri" pitchFamily="34" charset="-122"/>
                <a:cs typeface="Calibri" pitchFamily="34" charset="-120"/>
              </a:rPr>
              <a:t>SMART GARBAGE MONITORING SYSTEM</a:t>
            </a:r>
            <a:endParaRPr lang="en-US" sz="1200" dirty="0"/>
          </a:p>
        </p:txBody>
      </p:sp>
      <p:sp>
        <p:nvSpPr>
          <p:cNvPr id="5" name="Text 3"/>
          <p:cNvSpPr/>
          <p:nvPr/>
        </p:nvSpPr>
        <p:spPr>
          <a:xfrm>
            <a:off x="548640" y="822960"/>
            <a:ext cx="9144000" cy="685800"/>
          </a:xfrm>
          <a:prstGeom prst="rect">
            <a:avLst/>
          </a:prstGeom>
          <a:noFill/>
          <a:ln/>
        </p:spPr>
        <p:txBody>
          <a:bodyPr wrap="square" lIns="0" tIns="0" rIns="0" bIns="0" rtlCol="0" anchor="ctr"/>
          <a:lstStyle/>
          <a:p>
            <a:pPr marL="0" indent="0">
              <a:buNone/>
            </a:pPr>
            <a:r>
              <a:rPr lang="en-US" sz="3400" b="1" dirty="0">
                <a:solidFill>
                  <a:srgbClr val="12301F"/>
                </a:solidFill>
                <a:latin typeface="Cambria" pitchFamily="34" charset="0"/>
                <a:ea typeface="Cambria" pitchFamily="34" charset="-122"/>
                <a:cs typeface="Cambria" pitchFamily="34" charset="-120"/>
              </a:rPr>
              <a:t>Project Team</a:t>
            </a:r>
            <a:endParaRPr lang="en-US" sz="3400" dirty="0"/>
          </a:p>
        </p:txBody>
      </p:sp>
      <p:sp>
        <p:nvSpPr>
          <p:cNvPr id="6" name="Shape 4"/>
          <p:cNvSpPr/>
          <p:nvPr/>
        </p:nvSpPr>
        <p:spPr>
          <a:xfrm>
            <a:off x="548640" y="1874520"/>
            <a:ext cx="3429000" cy="1691640"/>
          </a:xfrm>
          <a:prstGeom prst="roundRect">
            <a:avLst>
              <a:gd name="adj" fmla="val 5405"/>
            </a:avLst>
          </a:prstGeom>
          <a:solidFill>
            <a:srgbClr val="FFFFFF"/>
          </a:solidFill>
          <a:ln w="12700">
            <a:solidFill>
              <a:srgbClr val="CFE3D6"/>
            </a:solidFill>
            <a:prstDash val="solid"/>
          </a:ln>
        </p:spPr>
      </p:sp>
      <p:sp>
        <p:nvSpPr>
          <p:cNvPr id="7" name="Shape 5"/>
          <p:cNvSpPr/>
          <p:nvPr/>
        </p:nvSpPr>
        <p:spPr>
          <a:xfrm>
            <a:off x="822960" y="2194560"/>
            <a:ext cx="685800" cy="685800"/>
          </a:xfrm>
          <a:prstGeom prst="ellipse">
            <a:avLst/>
          </a:prstGeom>
          <a:solidFill>
            <a:srgbClr val="2E9E5B"/>
          </a:solidFill>
          <a:ln/>
        </p:spPr>
      </p:sp>
      <p:sp>
        <p:nvSpPr>
          <p:cNvPr id="8" name="Text 6"/>
          <p:cNvSpPr/>
          <p:nvPr/>
        </p:nvSpPr>
        <p:spPr>
          <a:xfrm>
            <a:off x="822960" y="219456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VA</a:t>
            </a:r>
            <a:endParaRPr lang="en-US" sz="1600" dirty="0"/>
          </a:p>
        </p:txBody>
      </p:sp>
      <p:sp>
        <p:nvSpPr>
          <p:cNvPr id="9" name="Text 7"/>
          <p:cNvSpPr/>
          <p:nvPr/>
        </p:nvSpPr>
        <p:spPr>
          <a:xfrm>
            <a:off x="1645920" y="2221992"/>
            <a:ext cx="2148840" cy="548640"/>
          </a:xfrm>
          <a:prstGeom prst="rect">
            <a:avLst/>
          </a:prstGeom>
          <a:noFill/>
          <a:ln/>
        </p:spPr>
        <p:txBody>
          <a:bodyPr wrap="square" lIns="0" tIns="0" rIns="0" bIns="0" rtlCol="0" anchor="ctr"/>
          <a:lstStyle/>
          <a:p>
            <a:pPr marL="0" indent="0">
              <a:lnSpc>
                <a:spcPct val="105000"/>
              </a:lnSpc>
              <a:buNone/>
            </a:pPr>
            <a:r>
              <a:rPr lang="en-US" sz="1350" b="1" dirty="0">
                <a:solidFill>
                  <a:srgbClr val="12301F"/>
                </a:solidFill>
                <a:latin typeface="Calibri" pitchFamily="34" charset="0"/>
                <a:ea typeface="Calibri" pitchFamily="34" charset="-122"/>
                <a:cs typeface="Calibri" pitchFamily="34" charset="-120"/>
              </a:rPr>
              <a:t>V. Ashlin</a:t>
            </a:r>
            <a:endParaRPr lang="en-US" sz="1350" dirty="0"/>
          </a:p>
        </p:txBody>
      </p:sp>
      <p:sp>
        <p:nvSpPr>
          <p:cNvPr id="10" name="Text 8"/>
          <p:cNvSpPr/>
          <p:nvPr/>
        </p:nvSpPr>
        <p:spPr>
          <a:xfrm>
            <a:off x="1645920" y="2770632"/>
            <a:ext cx="2148840" cy="320040"/>
          </a:xfrm>
          <a:prstGeom prst="rect">
            <a:avLst/>
          </a:prstGeom>
          <a:noFill/>
          <a:ln/>
        </p:spPr>
        <p:txBody>
          <a:bodyPr wrap="square" lIns="0" tIns="0" rIns="0" bIns="0" rtlCol="0" anchor="ctr"/>
          <a:lstStyle/>
          <a:p>
            <a:pPr marL="0" indent="0">
              <a:buNone/>
            </a:pPr>
            <a:r>
              <a:rPr lang="en-US" sz="1100" dirty="0">
                <a:solidFill>
                  <a:srgbClr val="1F6B45"/>
                </a:solidFill>
                <a:latin typeface="Calibri" pitchFamily="34" charset="0"/>
                <a:ea typeface="Calibri" pitchFamily="34" charset="-122"/>
                <a:cs typeface="Calibri" pitchFamily="34" charset="-120"/>
              </a:rPr>
              <a:t>Reg. No. 25BCA7722</a:t>
            </a:r>
            <a:endParaRPr lang="en-US" sz="1100" dirty="0"/>
          </a:p>
        </p:txBody>
      </p:sp>
      <p:sp>
        <p:nvSpPr>
          <p:cNvPr id="11" name="Shape 9"/>
          <p:cNvSpPr/>
          <p:nvPr/>
        </p:nvSpPr>
        <p:spPr>
          <a:xfrm>
            <a:off x="4297680" y="1874520"/>
            <a:ext cx="3429000" cy="1691640"/>
          </a:xfrm>
          <a:prstGeom prst="roundRect">
            <a:avLst>
              <a:gd name="adj" fmla="val 5405"/>
            </a:avLst>
          </a:prstGeom>
          <a:solidFill>
            <a:srgbClr val="FFFFFF"/>
          </a:solidFill>
          <a:ln w="12700">
            <a:solidFill>
              <a:srgbClr val="CFE3D6"/>
            </a:solidFill>
            <a:prstDash val="solid"/>
          </a:ln>
        </p:spPr>
      </p:sp>
      <p:sp>
        <p:nvSpPr>
          <p:cNvPr id="12" name="Shape 10"/>
          <p:cNvSpPr/>
          <p:nvPr/>
        </p:nvSpPr>
        <p:spPr>
          <a:xfrm>
            <a:off x="4572000" y="2194560"/>
            <a:ext cx="685800" cy="685800"/>
          </a:xfrm>
          <a:prstGeom prst="ellipse">
            <a:avLst/>
          </a:prstGeom>
          <a:solidFill>
            <a:srgbClr val="2E9E5B"/>
          </a:solidFill>
          <a:ln/>
        </p:spPr>
      </p:sp>
      <p:sp>
        <p:nvSpPr>
          <p:cNvPr id="13" name="Text 11"/>
          <p:cNvSpPr/>
          <p:nvPr/>
        </p:nvSpPr>
        <p:spPr>
          <a:xfrm>
            <a:off x="4572000" y="219456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MS</a:t>
            </a:r>
            <a:endParaRPr lang="en-US" sz="1600" dirty="0"/>
          </a:p>
        </p:txBody>
      </p:sp>
      <p:sp>
        <p:nvSpPr>
          <p:cNvPr id="14" name="Text 12"/>
          <p:cNvSpPr/>
          <p:nvPr/>
        </p:nvSpPr>
        <p:spPr>
          <a:xfrm>
            <a:off x="5394960" y="2221992"/>
            <a:ext cx="2148840" cy="548640"/>
          </a:xfrm>
          <a:prstGeom prst="rect">
            <a:avLst/>
          </a:prstGeom>
          <a:noFill/>
          <a:ln/>
        </p:spPr>
        <p:txBody>
          <a:bodyPr wrap="square" lIns="0" tIns="0" rIns="0" bIns="0" rtlCol="0" anchor="ctr"/>
          <a:lstStyle/>
          <a:p>
            <a:pPr marL="0" indent="0">
              <a:lnSpc>
                <a:spcPct val="105000"/>
              </a:lnSpc>
              <a:buNone/>
            </a:pPr>
            <a:r>
              <a:rPr lang="en-US" sz="1350" b="1" dirty="0">
                <a:solidFill>
                  <a:srgbClr val="12301F"/>
                </a:solidFill>
                <a:latin typeface="Calibri" pitchFamily="34" charset="0"/>
                <a:ea typeface="Calibri" pitchFamily="34" charset="-122"/>
                <a:cs typeface="Calibri" pitchFamily="34" charset="-120"/>
              </a:rPr>
              <a:t>Mohit Shrivastava</a:t>
            </a:r>
            <a:endParaRPr lang="en-US" sz="1350" dirty="0"/>
          </a:p>
        </p:txBody>
      </p:sp>
      <p:sp>
        <p:nvSpPr>
          <p:cNvPr id="15" name="Text 13"/>
          <p:cNvSpPr/>
          <p:nvPr/>
        </p:nvSpPr>
        <p:spPr>
          <a:xfrm>
            <a:off x="5394960" y="2770632"/>
            <a:ext cx="2148840" cy="320040"/>
          </a:xfrm>
          <a:prstGeom prst="rect">
            <a:avLst/>
          </a:prstGeom>
          <a:noFill/>
          <a:ln/>
        </p:spPr>
        <p:txBody>
          <a:bodyPr wrap="square" lIns="0" tIns="0" rIns="0" bIns="0" rtlCol="0" anchor="ctr"/>
          <a:lstStyle/>
          <a:p>
            <a:pPr marL="0" indent="0">
              <a:buNone/>
            </a:pPr>
            <a:r>
              <a:rPr lang="en-US" sz="1100" dirty="0">
                <a:solidFill>
                  <a:srgbClr val="1F6B45"/>
                </a:solidFill>
                <a:latin typeface="Calibri" pitchFamily="34" charset="0"/>
                <a:ea typeface="Calibri" pitchFamily="34" charset="-122"/>
                <a:cs typeface="Calibri" pitchFamily="34" charset="-120"/>
              </a:rPr>
              <a:t>Reg. No. 25BCA7448</a:t>
            </a:r>
            <a:endParaRPr lang="en-US" sz="1100" dirty="0"/>
          </a:p>
        </p:txBody>
      </p:sp>
      <p:sp>
        <p:nvSpPr>
          <p:cNvPr id="16" name="Shape 14"/>
          <p:cNvSpPr/>
          <p:nvPr/>
        </p:nvSpPr>
        <p:spPr>
          <a:xfrm>
            <a:off x="8046720" y="1874520"/>
            <a:ext cx="3429000" cy="1691640"/>
          </a:xfrm>
          <a:prstGeom prst="roundRect">
            <a:avLst>
              <a:gd name="adj" fmla="val 5405"/>
            </a:avLst>
          </a:prstGeom>
          <a:solidFill>
            <a:srgbClr val="FFFFFF"/>
          </a:solidFill>
          <a:ln w="12700">
            <a:solidFill>
              <a:srgbClr val="CFE3D6"/>
            </a:solidFill>
            <a:prstDash val="solid"/>
          </a:ln>
        </p:spPr>
      </p:sp>
      <p:sp>
        <p:nvSpPr>
          <p:cNvPr id="17" name="Shape 15"/>
          <p:cNvSpPr/>
          <p:nvPr/>
        </p:nvSpPr>
        <p:spPr>
          <a:xfrm>
            <a:off x="8321040" y="2194560"/>
            <a:ext cx="685800" cy="685800"/>
          </a:xfrm>
          <a:prstGeom prst="ellipse">
            <a:avLst/>
          </a:prstGeom>
          <a:solidFill>
            <a:srgbClr val="2E9E5B"/>
          </a:solidFill>
          <a:ln/>
        </p:spPr>
      </p:sp>
      <p:sp>
        <p:nvSpPr>
          <p:cNvPr id="18" name="Text 16"/>
          <p:cNvSpPr/>
          <p:nvPr/>
        </p:nvSpPr>
        <p:spPr>
          <a:xfrm>
            <a:off x="8321040" y="219456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RN</a:t>
            </a:r>
            <a:endParaRPr lang="en-US" sz="1600" dirty="0"/>
          </a:p>
        </p:txBody>
      </p:sp>
      <p:sp>
        <p:nvSpPr>
          <p:cNvPr id="19" name="Text 17"/>
          <p:cNvSpPr/>
          <p:nvPr/>
        </p:nvSpPr>
        <p:spPr>
          <a:xfrm>
            <a:off x="9144000" y="2221992"/>
            <a:ext cx="2148840" cy="548640"/>
          </a:xfrm>
          <a:prstGeom prst="rect">
            <a:avLst/>
          </a:prstGeom>
          <a:noFill/>
          <a:ln/>
        </p:spPr>
        <p:txBody>
          <a:bodyPr wrap="square" lIns="0" tIns="0" rIns="0" bIns="0" rtlCol="0" anchor="ctr"/>
          <a:lstStyle/>
          <a:p>
            <a:pPr marL="0" indent="0">
              <a:lnSpc>
                <a:spcPct val="105000"/>
              </a:lnSpc>
              <a:buNone/>
            </a:pPr>
            <a:r>
              <a:rPr lang="en-US" sz="1350" b="1" dirty="0">
                <a:solidFill>
                  <a:srgbClr val="12301F"/>
                </a:solidFill>
                <a:latin typeface="Calibri" pitchFamily="34" charset="0"/>
                <a:ea typeface="Calibri" pitchFamily="34" charset="-122"/>
                <a:cs typeface="Calibri" pitchFamily="34" charset="-120"/>
              </a:rPr>
              <a:t>Rudra Narayan Rout</a:t>
            </a:r>
            <a:endParaRPr lang="en-US" sz="1350" dirty="0"/>
          </a:p>
        </p:txBody>
      </p:sp>
      <p:sp>
        <p:nvSpPr>
          <p:cNvPr id="20" name="Text 18"/>
          <p:cNvSpPr/>
          <p:nvPr/>
        </p:nvSpPr>
        <p:spPr>
          <a:xfrm>
            <a:off x="9144000" y="2770632"/>
            <a:ext cx="2148840" cy="320040"/>
          </a:xfrm>
          <a:prstGeom prst="rect">
            <a:avLst/>
          </a:prstGeom>
          <a:noFill/>
          <a:ln/>
        </p:spPr>
        <p:txBody>
          <a:bodyPr wrap="square" lIns="0" tIns="0" rIns="0" bIns="0" rtlCol="0" anchor="ctr"/>
          <a:lstStyle/>
          <a:p>
            <a:pPr marL="0" indent="0">
              <a:buNone/>
            </a:pPr>
            <a:r>
              <a:rPr lang="en-US" sz="1100" dirty="0">
                <a:solidFill>
                  <a:srgbClr val="1F6B45"/>
                </a:solidFill>
                <a:latin typeface="Calibri" pitchFamily="34" charset="0"/>
                <a:ea typeface="Calibri" pitchFamily="34" charset="-122"/>
                <a:cs typeface="Calibri" pitchFamily="34" charset="-120"/>
              </a:rPr>
              <a:t>Reg. No. 25BCA7589</a:t>
            </a:r>
            <a:endParaRPr lang="en-US" sz="1100" dirty="0"/>
          </a:p>
        </p:txBody>
      </p:sp>
      <p:sp>
        <p:nvSpPr>
          <p:cNvPr id="21" name="Shape 19"/>
          <p:cNvSpPr/>
          <p:nvPr/>
        </p:nvSpPr>
        <p:spPr>
          <a:xfrm>
            <a:off x="548640" y="3931920"/>
            <a:ext cx="3429000" cy="1691640"/>
          </a:xfrm>
          <a:prstGeom prst="roundRect">
            <a:avLst>
              <a:gd name="adj" fmla="val 5405"/>
            </a:avLst>
          </a:prstGeom>
          <a:solidFill>
            <a:srgbClr val="FFFFFF"/>
          </a:solidFill>
          <a:ln w="12700">
            <a:solidFill>
              <a:srgbClr val="CFE3D6"/>
            </a:solidFill>
            <a:prstDash val="solid"/>
          </a:ln>
        </p:spPr>
      </p:sp>
      <p:sp>
        <p:nvSpPr>
          <p:cNvPr id="22" name="Shape 20"/>
          <p:cNvSpPr/>
          <p:nvPr/>
        </p:nvSpPr>
        <p:spPr>
          <a:xfrm>
            <a:off x="822960" y="4251960"/>
            <a:ext cx="685800" cy="685800"/>
          </a:xfrm>
          <a:prstGeom prst="ellipse">
            <a:avLst/>
          </a:prstGeom>
          <a:solidFill>
            <a:srgbClr val="2E9E5B"/>
          </a:solidFill>
          <a:ln/>
        </p:spPr>
      </p:sp>
      <p:sp>
        <p:nvSpPr>
          <p:cNvPr id="23" name="Text 21"/>
          <p:cNvSpPr/>
          <p:nvPr/>
        </p:nvSpPr>
        <p:spPr>
          <a:xfrm>
            <a:off x="822960" y="425196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MC</a:t>
            </a:r>
            <a:endParaRPr lang="en-US" sz="1600" dirty="0"/>
          </a:p>
        </p:txBody>
      </p:sp>
      <p:sp>
        <p:nvSpPr>
          <p:cNvPr id="24" name="Text 22"/>
          <p:cNvSpPr/>
          <p:nvPr/>
        </p:nvSpPr>
        <p:spPr>
          <a:xfrm>
            <a:off x="1645920" y="4279392"/>
            <a:ext cx="2148840" cy="548640"/>
          </a:xfrm>
          <a:prstGeom prst="rect">
            <a:avLst/>
          </a:prstGeom>
          <a:noFill/>
          <a:ln/>
        </p:spPr>
        <p:txBody>
          <a:bodyPr wrap="square" lIns="0" tIns="0" rIns="0" bIns="0" rtlCol="0" anchor="ctr"/>
          <a:lstStyle/>
          <a:p>
            <a:pPr marL="0" indent="0">
              <a:lnSpc>
                <a:spcPct val="105000"/>
              </a:lnSpc>
              <a:buNone/>
            </a:pPr>
            <a:r>
              <a:rPr lang="en-US" sz="1350" b="1" dirty="0">
                <a:solidFill>
                  <a:srgbClr val="12301F"/>
                </a:solidFill>
                <a:latin typeface="Calibri" pitchFamily="34" charset="0"/>
                <a:ea typeface="Calibri" pitchFamily="34" charset="-122"/>
                <a:cs typeface="Calibri" pitchFamily="34" charset="-120"/>
              </a:rPr>
              <a:t>Maanas C</a:t>
            </a:r>
            <a:endParaRPr lang="en-US" sz="1350" dirty="0"/>
          </a:p>
        </p:txBody>
      </p:sp>
      <p:sp>
        <p:nvSpPr>
          <p:cNvPr id="25" name="Text 23"/>
          <p:cNvSpPr/>
          <p:nvPr/>
        </p:nvSpPr>
        <p:spPr>
          <a:xfrm>
            <a:off x="1645920" y="4828032"/>
            <a:ext cx="2148840" cy="320040"/>
          </a:xfrm>
          <a:prstGeom prst="rect">
            <a:avLst/>
          </a:prstGeom>
          <a:noFill/>
          <a:ln/>
        </p:spPr>
        <p:txBody>
          <a:bodyPr wrap="square" lIns="0" tIns="0" rIns="0" bIns="0" rtlCol="0" anchor="ctr"/>
          <a:lstStyle/>
          <a:p>
            <a:pPr marL="0" indent="0">
              <a:buNone/>
            </a:pPr>
            <a:r>
              <a:rPr lang="en-US" sz="1100" dirty="0">
                <a:solidFill>
                  <a:srgbClr val="1F6B45"/>
                </a:solidFill>
                <a:latin typeface="Calibri" pitchFamily="34" charset="0"/>
                <a:ea typeface="Calibri" pitchFamily="34" charset="-122"/>
                <a:cs typeface="Calibri" pitchFamily="34" charset="-120"/>
              </a:rPr>
              <a:t>Reg. No. 25BCA7302</a:t>
            </a:r>
            <a:endParaRPr lang="en-US" sz="1100" dirty="0"/>
          </a:p>
        </p:txBody>
      </p:sp>
      <p:sp>
        <p:nvSpPr>
          <p:cNvPr id="26" name="Shape 24"/>
          <p:cNvSpPr/>
          <p:nvPr/>
        </p:nvSpPr>
        <p:spPr>
          <a:xfrm>
            <a:off x="4297680" y="3931920"/>
            <a:ext cx="3429000" cy="1691640"/>
          </a:xfrm>
          <a:prstGeom prst="roundRect">
            <a:avLst>
              <a:gd name="adj" fmla="val 5405"/>
            </a:avLst>
          </a:prstGeom>
          <a:solidFill>
            <a:srgbClr val="FFFFFF"/>
          </a:solidFill>
          <a:ln w="12700">
            <a:solidFill>
              <a:srgbClr val="CFE3D6"/>
            </a:solidFill>
            <a:prstDash val="solid"/>
          </a:ln>
        </p:spPr>
      </p:sp>
      <p:sp>
        <p:nvSpPr>
          <p:cNvPr id="27" name="Shape 25"/>
          <p:cNvSpPr/>
          <p:nvPr/>
        </p:nvSpPr>
        <p:spPr>
          <a:xfrm>
            <a:off x="4572000" y="4251960"/>
            <a:ext cx="685800" cy="685800"/>
          </a:xfrm>
          <a:prstGeom prst="ellipse">
            <a:avLst/>
          </a:prstGeom>
          <a:solidFill>
            <a:srgbClr val="2E9E5B"/>
          </a:solidFill>
          <a:ln/>
        </p:spPr>
      </p:sp>
      <p:sp>
        <p:nvSpPr>
          <p:cNvPr id="28" name="Text 26"/>
          <p:cNvSpPr/>
          <p:nvPr/>
        </p:nvSpPr>
        <p:spPr>
          <a:xfrm>
            <a:off x="4572000" y="425196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AY</a:t>
            </a:r>
            <a:endParaRPr lang="en-US" sz="1600" dirty="0"/>
          </a:p>
        </p:txBody>
      </p:sp>
      <p:sp>
        <p:nvSpPr>
          <p:cNvPr id="29" name="Text 27"/>
          <p:cNvSpPr/>
          <p:nvPr/>
        </p:nvSpPr>
        <p:spPr>
          <a:xfrm>
            <a:off x="5394960" y="4279392"/>
            <a:ext cx="2148840" cy="548640"/>
          </a:xfrm>
          <a:prstGeom prst="rect">
            <a:avLst/>
          </a:prstGeom>
          <a:noFill/>
          <a:ln/>
        </p:spPr>
        <p:txBody>
          <a:bodyPr wrap="square" lIns="0" tIns="0" rIns="0" bIns="0" rtlCol="0" anchor="ctr"/>
          <a:lstStyle/>
          <a:p>
            <a:pPr marL="0" indent="0">
              <a:lnSpc>
                <a:spcPct val="105000"/>
              </a:lnSpc>
              <a:buNone/>
            </a:pPr>
            <a:r>
              <a:rPr lang="en-US" sz="1350" b="1" dirty="0">
                <a:solidFill>
                  <a:srgbClr val="12301F"/>
                </a:solidFill>
                <a:latin typeface="Calibri" pitchFamily="34" charset="0"/>
                <a:ea typeface="Calibri" pitchFamily="34" charset="-122"/>
                <a:cs typeface="Calibri" pitchFamily="34" charset="-120"/>
              </a:rPr>
              <a:t>Adarsh Yadav</a:t>
            </a:r>
            <a:endParaRPr lang="en-US" sz="1350" dirty="0"/>
          </a:p>
        </p:txBody>
      </p:sp>
      <p:sp>
        <p:nvSpPr>
          <p:cNvPr id="30" name="Text 28"/>
          <p:cNvSpPr/>
          <p:nvPr/>
        </p:nvSpPr>
        <p:spPr>
          <a:xfrm>
            <a:off x="5394960" y="4828032"/>
            <a:ext cx="2148840" cy="320040"/>
          </a:xfrm>
          <a:prstGeom prst="rect">
            <a:avLst/>
          </a:prstGeom>
          <a:noFill/>
          <a:ln/>
        </p:spPr>
        <p:txBody>
          <a:bodyPr wrap="square" lIns="0" tIns="0" rIns="0" bIns="0" rtlCol="0" anchor="ctr"/>
          <a:lstStyle/>
          <a:p>
            <a:pPr marL="0" indent="0">
              <a:buNone/>
            </a:pPr>
            <a:r>
              <a:rPr lang="en-US" sz="1100" dirty="0">
                <a:solidFill>
                  <a:srgbClr val="1F6B45"/>
                </a:solidFill>
                <a:latin typeface="Calibri" pitchFamily="34" charset="0"/>
                <a:ea typeface="Calibri" pitchFamily="34" charset="-122"/>
                <a:cs typeface="Calibri" pitchFamily="34" charset="-120"/>
              </a:rPr>
              <a:t>Reg. No. 25BCA7038</a:t>
            </a:r>
            <a:endParaRPr lang="en-US" sz="1100" dirty="0"/>
          </a:p>
        </p:txBody>
      </p:sp>
      <p:sp>
        <p:nvSpPr>
          <p:cNvPr id="31" name="Shape 29"/>
          <p:cNvSpPr/>
          <p:nvPr/>
        </p:nvSpPr>
        <p:spPr>
          <a:xfrm>
            <a:off x="8046720" y="3931920"/>
            <a:ext cx="3429000" cy="1691640"/>
          </a:xfrm>
          <a:prstGeom prst="roundRect">
            <a:avLst>
              <a:gd name="adj" fmla="val 5405"/>
            </a:avLst>
          </a:prstGeom>
          <a:solidFill>
            <a:srgbClr val="FFFFFF"/>
          </a:solidFill>
          <a:ln w="12700">
            <a:solidFill>
              <a:srgbClr val="CFE3D6"/>
            </a:solidFill>
            <a:prstDash val="solid"/>
          </a:ln>
        </p:spPr>
      </p:sp>
      <p:sp>
        <p:nvSpPr>
          <p:cNvPr id="32" name="Shape 30"/>
          <p:cNvSpPr/>
          <p:nvPr/>
        </p:nvSpPr>
        <p:spPr>
          <a:xfrm>
            <a:off x="8321040" y="4251960"/>
            <a:ext cx="685800" cy="685800"/>
          </a:xfrm>
          <a:prstGeom prst="ellipse">
            <a:avLst/>
          </a:prstGeom>
          <a:solidFill>
            <a:srgbClr val="2E9E5B"/>
          </a:solidFill>
          <a:ln/>
        </p:spPr>
      </p:sp>
      <p:sp>
        <p:nvSpPr>
          <p:cNvPr id="33" name="Text 31"/>
          <p:cNvSpPr/>
          <p:nvPr/>
        </p:nvSpPr>
        <p:spPr>
          <a:xfrm>
            <a:off x="8321040" y="425196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NC</a:t>
            </a:r>
            <a:endParaRPr lang="en-US" sz="1600" dirty="0"/>
          </a:p>
        </p:txBody>
      </p:sp>
      <p:sp>
        <p:nvSpPr>
          <p:cNvPr id="34" name="Text 32"/>
          <p:cNvSpPr/>
          <p:nvPr/>
        </p:nvSpPr>
        <p:spPr>
          <a:xfrm>
            <a:off x="9144000" y="4279392"/>
            <a:ext cx="2148840" cy="548640"/>
          </a:xfrm>
          <a:prstGeom prst="rect">
            <a:avLst/>
          </a:prstGeom>
          <a:noFill/>
          <a:ln/>
        </p:spPr>
        <p:txBody>
          <a:bodyPr wrap="square" lIns="0" tIns="0" rIns="0" bIns="0" rtlCol="0" anchor="ctr"/>
          <a:lstStyle/>
          <a:p>
            <a:pPr marL="0" indent="0">
              <a:lnSpc>
                <a:spcPct val="105000"/>
              </a:lnSpc>
              <a:buNone/>
            </a:pPr>
            <a:r>
              <a:rPr lang="en-US" sz="1350" b="1" dirty="0">
                <a:solidFill>
                  <a:srgbClr val="12301F"/>
                </a:solidFill>
                <a:latin typeface="Calibri" pitchFamily="34" charset="0"/>
                <a:ea typeface="Calibri" pitchFamily="34" charset="-122"/>
                <a:cs typeface="Calibri" pitchFamily="34" charset="-120"/>
              </a:rPr>
              <a:t>Nukathoti Chakravarthi</a:t>
            </a:r>
            <a:endParaRPr lang="en-US" sz="1350" dirty="0"/>
          </a:p>
        </p:txBody>
      </p:sp>
      <p:sp>
        <p:nvSpPr>
          <p:cNvPr id="35" name="Text 33"/>
          <p:cNvSpPr/>
          <p:nvPr/>
        </p:nvSpPr>
        <p:spPr>
          <a:xfrm>
            <a:off x="9144000" y="4828032"/>
            <a:ext cx="2148840" cy="320040"/>
          </a:xfrm>
          <a:prstGeom prst="rect">
            <a:avLst/>
          </a:prstGeom>
          <a:noFill/>
          <a:ln/>
        </p:spPr>
        <p:txBody>
          <a:bodyPr wrap="square" lIns="0" tIns="0" rIns="0" bIns="0" rtlCol="0" anchor="ctr"/>
          <a:lstStyle/>
          <a:p>
            <a:pPr marL="0" indent="0">
              <a:buNone/>
            </a:pPr>
            <a:r>
              <a:rPr lang="en-US" sz="1100" dirty="0">
                <a:solidFill>
                  <a:srgbClr val="1F6B45"/>
                </a:solidFill>
                <a:latin typeface="Calibri" pitchFamily="34" charset="0"/>
                <a:ea typeface="Calibri" pitchFamily="34" charset="-122"/>
                <a:cs typeface="Calibri" pitchFamily="34" charset="-120"/>
              </a:rPr>
              <a:t>Reg. No. 23BCE20107</a:t>
            </a:r>
            <a:endParaRPr lang="en-US" sz="1100" dirty="0"/>
          </a:p>
        </p:txBody>
      </p:sp>
      <p:sp>
        <p:nvSpPr>
          <p:cNvPr id="36" name="Text 34"/>
          <p:cNvSpPr/>
          <p:nvPr/>
        </p:nvSpPr>
        <p:spPr>
          <a:xfrm>
            <a:off x="548640" y="6400800"/>
            <a:ext cx="8229600" cy="274320"/>
          </a:xfrm>
          <a:prstGeom prst="rect">
            <a:avLst/>
          </a:prstGeom>
          <a:noFill/>
          <a:ln/>
        </p:spPr>
        <p:txBody>
          <a:bodyPr wrap="square" lIns="0" tIns="0" rIns="0" bIns="0" rtlCol="0" anchor="ctr"/>
          <a:lstStyle/>
          <a:p>
            <a:pPr marL="0" indent="0">
              <a:buNone/>
            </a:pPr>
            <a:r>
              <a:rPr lang="en-US" sz="900" dirty="0">
                <a:solidFill>
                  <a:srgbClr val="4B6355"/>
                </a:solidFill>
                <a:latin typeface="Calibri" pitchFamily="34" charset="0"/>
                <a:ea typeface="Calibri" pitchFamily="34" charset="-122"/>
                <a:cs typeface="Calibri" pitchFamily="34" charset="-120"/>
              </a:rPr>
              <a:t>Smart Garbage Monitoring System — Project Presentation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EEF7F1"/>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F6B45"/>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p:nvPr/>
        </p:nvSpPr>
        <p:spPr>
          <a:xfrm>
            <a:off x="1234440" y="411480"/>
            <a:ext cx="9601200" cy="594360"/>
          </a:xfrm>
          <a:prstGeom prst="rect">
            <a:avLst/>
          </a:prstGeom>
          <a:noFill/>
          <a:ln/>
        </p:spPr>
        <p:txBody>
          <a:bodyPr wrap="square" lIns="0" tIns="0" rIns="0" bIns="0" rtlCol="0" anchor="ctr"/>
          <a:lstStyle/>
          <a:p>
            <a:pPr marL="0" indent="0">
              <a:buNone/>
            </a:pPr>
            <a:r>
              <a:rPr lang="en-US" sz="2800" b="1" dirty="0">
                <a:solidFill>
                  <a:srgbClr val="16231C"/>
                </a:solidFill>
                <a:latin typeface="Cambria" pitchFamily="34" charset="0"/>
                <a:ea typeface="Cambria" pitchFamily="34" charset="-122"/>
                <a:cs typeface="Cambria" pitchFamily="34" charset="-120"/>
              </a:rPr>
              <a:t>Problem Statement</a:t>
            </a:r>
            <a:endParaRPr lang="en-US" sz="2800" dirty="0"/>
          </a:p>
        </p:txBody>
      </p:sp>
      <p:sp>
        <p:nvSpPr>
          <p:cNvPr id="5" name="Shape 3"/>
          <p:cNvSpPr/>
          <p:nvPr/>
        </p:nvSpPr>
        <p:spPr>
          <a:xfrm>
            <a:off x="548640" y="1170432"/>
            <a:ext cx="11094415" cy="0"/>
          </a:xfrm>
          <a:prstGeom prst="line">
            <a:avLst/>
          </a:prstGeom>
          <a:noFill/>
          <a:ln w="12700">
            <a:solidFill>
              <a:srgbClr val="DCE7DE"/>
            </a:solidFill>
            <a:prstDash val="solid"/>
          </a:ln>
        </p:spPr>
      </p:sp>
      <p:sp>
        <p:nvSpPr>
          <p:cNvPr id="6" name="Text 4"/>
          <p:cNvSpPr/>
          <p:nvPr/>
        </p:nvSpPr>
        <p:spPr>
          <a:xfrm>
            <a:off x="548640" y="1508760"/>
            <a:ext cx="5943600" cy="3017520"/>
          </a:xfrm>
          <a:prstGeom prst="rect">
            <a:avLst/>
          </a:prstGeom>
          <a:noFill/>
          <a:ln/>
        </p:spPr>
        <p:txBody>
          <a:bodyPr wrap="square" lIns="0" tIns="0" rIns="0" bIns="0" rtlCol="0" anchor="ctr"/>
          <a:lstStyle/>
          <a:p>
            <a:pPr marL="0" indent="0">
              <a:lnSpc>
                <a:spcPct val="130000"/>
              </a:lnSpc>
              <a:buNone/>
            </a:pPr>
            <a:r>
              <a:rPr lang="en-US" sz="1500" dirty="0">
                <a:solidFill>
                  <a:srgbClr val="16231C"/>
                </a:solidFill>
                <a:latin typeface="Calibri" pitchFamily="34" charset="0"/>
                <a:ea typeface="Calibri" pitchFamily="34" charset="-122"/>
                <a:cs typeface="Calibri" pitchFamily="34" charset="-120"/>
              </a:rPr>
              <a:t>Traditional house-to-house garbage collection follows fixed routes and schedules, regardless of whether bins are actually full or empty. This wastes fuel and municipal resources, causes traffic congestion, and leaves overflowing bins uncollected while trucks visit nearly empty ones. Without real-time monitoring, waste management stays inefficient and adds to environmental pollution.</a:t>
            </a:r>
            <a:endParaRPr lang="en-US" sz="1500" dirty="0"/>
          </a:p>
        </p:txBody>
      </p:sp>
      <p:sp>
        <p:nvSpPr>
          <p:cNvPr id="7" name="Text 5"/>
          <p:cNvSpPr/>
          <p:nvPr/>
        </p:nvSpPr>
        <p:spPr>
          <a:xfrm>
            <a:off x="548640" y="4709160"/>
            <a:ext cx="5943600" cy="640080"/>
          </a:xfrm>
          <a:prstGeom prst="rect">
            <a:avLst/>
          </a:prstGeom>
          <a:noFill/>
          <a:ln/>
        </p:spPr>
        <p:txBody>
          <a:bodyPr wrap="square" lIns="0" tIns="0" rIns="0" bIns="0" rtlCol="0" anchor="ctr"/>
          <a:lstStyle/>
          <a:p>
            <a:pPr marL="0" indent="0">
              <a:buNone/>
            </a:pPr>
            <a:r>
              <a:rPr lang="en-US" sz="1400" b="1" i="1" dirty="0">
                <a:solidFill>
                  <a:srgbClr val="1F6B45"/>
                </a:solidFill>
                <a:latin typeface="Calibri" pitchFamily="34" charset="0"/>
                <a:ea typeface="Calibri" pitchFamily="34" charset="-122"/>
                <a:cs typeface="Calibri" pitchFamily="34" charset="-120"/>
              </a:rPr>
              <a:t>The core issue: routes are static, but bin fill-levels are dynamic.</a:t>
            </a:r>
            <a:endParaRPr lang="en-US" sz="1400" dirty="0"/>
          </a:p>
        </p:txBody>
      </p:sp>
      <p:sp>
        <p:nvSpPr>
          <p:cNvPr id="8" name="Shape 6"/>
          <p:cNvSpPr/>
          <p:nvPr/>
        </p:nvSpPr>
        <p:spPr>
          <a:xfrm>
            <a:off x="6903720" y="1508760"/>
            <a:ext cx="4754880" cy="1051560"/>
          </a:xfrm>
          <a:prstGeom prst="roundRect">
            <a:avLst>
              <a:gd name="adj" fmla="val 6957"/>
            </a:avLst>
          </a:prstGeom>
          <a:solidFill>
            <a:srgbClr val="FFFFFF"/>
          </a:solidFill>
          <a:ln/>
          <a:effectLst>
            <a:outerShdw blurRad="76200" dist="25400" dir="5400000" algn="bl" rotWithShape="0">
              <a:srgbClr val="9CB5A5">
                <a:alpha val="30000"/>
              </a:srgbClr>
            </a:outerShdw>
          </a:effectLst>
        </p:spPr>
      </p:sp>
      <p:sp>
        <p:nvSpPr>
          <p:cNvPr id="9" name="Shape 7"/>
          <p:cNvSpPr/>
          <p:nvPr/>
        </p:nvSpPr>
        <p:spPr>
          <a:xfrm>
            <a:off x="7132320" y="1764792"/>
            <a:ext cx="548640" cy="548640"/>
          </a:xfrm>
          <a:prstGeom prst="ellipse">
            <a:avLst/>
          </a:prstGeom>
          <a:solidFill>
            <a:srgbClr val="1F6B45"/>
          </a:solidFill>
          <a:ln/>
        </p:spPr>
      </p:sp>
      <p:sp>
        <p:nvSpPr>
          <p:cNvPr id="10" name="Text 8"/>
          <p:cNvSpPr/>
          <p:nvPr/>
        </p:nvSpPr>
        <p:spPr>
          <a:xfrm>
            <a:off x="7132320" y="176479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7863840" y="1627632"/>
            <a:ext cx="3566160" cy="365760"/>
          </a:xfrm>
          <a:prstGeom prst="rect">
            <a:avLst/>
          </a:prstGeom>
          <a:noFill/>
          <a:ln/>
        </p:spPr>
        <p:txBody>
          <a:bodyPr wrap="square" lIns="0" tIns="0" rIns="0" bIns="0" rtlCol="0" anchor="ctr"/>
          <a:lstStyle/>
          <a:p>
            <a:pPr marL="0" indent="0">
              <a:buNone/>
            </a:pPr>
            <a:r>
              <a:rPr lang="en-US" sz="1400" b="1" dirty="0">
                <a:solidFill>
                  <a:srgbClr val="16231C"/>
                </a:solidFill>
                <a:latin typeface="Calibri" pitchFamily="34" charset="0"/>
                <a:ea typeface="Calibri" pitchFamily="34" charset="-122"/>
                <a:cs typeface="Calibri" pitchFamily="34" charset="-120"/>
              </a:rPr>
              <a:t>Wasted Fuel &amp; Cost</a:t>
            </a:r>
            <a:endParaRPr lang="en-US" sz="1400" dirty="0"/>
          </a:p>
        </p:txBody>
      </p:sp>
      <p:sp>
        <p:nvSpPr>
          <p:cNvPr id="12" name="Text 10"/>
          <p:cNvSpPr/>
          <p:nvPr/>
        </p:nvSpPr>
        <p:spPr>
          <a:xfrm>
            <a:off x="7863840" y="1993392"/>
            <a:ext cx="3611880" cy="502920"/>
          </a:xfrm>
          <a:prstGeom prst="rect">
            <a:avLst/>
          </a:prstGeom>
          <a:noFill/>
          <a:ln/>
        </p:spPr>
        <p:txBody>
          <a:bodyPr wrap="square" lIns="0" tIns="0" rIns="0" bIns="0" rtlCol="0" anchor="ctr"/>
          <a:lstStyle/>
          <a:p>
            <a:pPr marL="0" indent="0">
              <a:lnSpc>
                <a:spcPct val="110000"/>
              </a:lnSpc>
              <a:buNone/>
            </a:pPr>
            <a:r>
              <a:rPr lang="en-US" sz="1100" dirty="0">
                <a:solidFill>
                  <a:srgbClr val="526056"/>
                </a:solidFill>
                <a:latin typeface="Calibri" pitchFamily="34" charset="0"/>
                <a:ea typeface="Calibri" pitchFamily="34" charset="-122"/>
                <a:cs typeface="Calibri" pitchFamily="34" charset="-120"/>
              </a:rPr>
              <a:t>Trucks run full routes even when many bins are empty.</a:t>
            </a:r>
            <a:endParaRPr lang="en-US" sz="1100" dirty="0"/>
          </a:p>
        </p:txBody>
      </p:sp>
      <p:sp>
        <p:nvSpPr>
          <p:cNvPr id="13" name="Shape 11"/>
          <p:cNvSpPr/>
          <p:nvPr/>
        </p:nvSpPr>
        <p:spPr>
          <a:xfrm>
            <a:off x="6903720" y="2743200"/>
            <a:ext cx="4754880" cy="1051560"/>
          </a:xfrm>
          <a:prstGeom prst="roundRect">
            <a:avLst>
              <a:gd name="adj" fmla="val 6957"/>
            </a:avLst>
          </a:prstGeom>
          <a:solidFill>
            <a:srgbClr val="FFFFFF"/>
          </a:solidFill>
          <a:ln/>
          <a:effectLst>
            <a:outerShdw blurRad="76200" dist="25400" dir="5400000" algn="bl" rotWithShape="0">
              <a:srgbClr val="9CB5A5">
                <a:alpha val="30000"/>
              </a:srgbClr>
            </a:outerShdw>
          </a:effectLst>
        </p:spPr>
      </p:sp>
      <p:sp>
        <p:nvSpPr>
          <p:cNvPr id="14" name="Shape 12"/>
          <p:cNvSpPr/>
          <p:nvPr/>
        </p:nvSpPr>
        <p:spPr>
          <a:xfrm>
            <a:off x="7132320" y="2999232"/>
            <a:ext cx="548640" cy="548640"/>
          </a:xfrm>
          <a:prstGeom prst="ellipse">
            <a:avLst/>
          </a:prstGeom>
          <a:solidFill>
            <a:srgbClr val="1F6B45"/>
          </a:solidFill>
          <a:ln/>
        </p:spPr>
      </p:sp>
      <p:sp>
        <p:nvSpPr>
          <p:cNvPr id="15" name="Text 13"/>
          <p:cNvSpPr/>
          <p:nvPr/>
        </p:nvSpPr>
        <p:spPr>
          <a:xfrm>
            <a:off x="7132320" y="299923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7863840" y="2862072"/>
            <a:ext cx="3566160" cy="365760"/>
          </a:xfrm>
          <a:prstGeom prst="rect">
            <a:avLst/>
          </a:prstGeom>
          <a:noFill/>
          <a:ln/>
        </p:spPr>
        <p:txBody>
          <a:bodyPr wrap="square" lIns="0" tIns="0" rIns="0" bIns="0" rtlCol="0" anchor="ctr"/>
          <a:lstStyle/>
          <a:p>
            <a:pPr marL="0" indent="0">
              <a:buNone/>
            </a:pPr>
            <a:r>
              <a:rPr lang="en-US" sz="1400" b="1" dirty="0">
                <a:solidFill>
                  <a:srgbClr val="16231C"/>
                </a:solidFill>
                <a:latin typeface="Calibri" pitchFamily="34" charset="0"/>
                <a:ea typeface="Calibri" pitchFamily="34" charset="-122"/>
                <a:cs typeface="Calibri" pitchFamily="34" charset="-120"/>
              </a:rPr>
              <a:t>Overflowing Bins</a:t>
            </a:r>
            <a:endParaRPr lang="en-US" sz="1400" dirty="0"/>
          </a:p>
        </p:txBody>
      </p:sp>
      <p:sp>
        <p:nvSpPr>
          <p:cNvPr id="17" name="Text 15"/>
          <p:cNvSpPr/>
          <p:nvPr/>
        </p:nvSpPr>
        <p:spPr>
          <a:xfrm>
            <a:off x="7863840" y="3227832"/>
            <a:ext cx="3611880" cy="502920"/>
          </a:xfrm>
          <a:prstGeom prst="rect">
            <a:avLst/>
          </a:prstGeom>
          <a:noFill/>
          <a:ln/>
        </p:spPr>
        <p:txBody>
          <a:bodyPr wrap="square" lIns="0" tIns="0" rIns="0" bIns="0" rtlCol="0" anchor="ctr"/>
          <a:lstStyle/>
          <a:p>
            <a:pPr marL="0" indent="0">
              <a:lnSpc>
                <a:spcPct val="110000"/>
              </a:lnSpc>
              <a:buNone/>
            </a:pPr>
            <a:r>
              <a:rPr lang="en-US" sz="1100" dirty="0">
                <a:solidFill>
                  <a:srgbClr val="526056"/>
                </a:solidFill>
                <a:latin typeface="Calibri" pitchFamily="34" charset="0"/>
                <a:ea typeface="Calibri" pitchFamily="34" charset="-122"/>
                <a:cs typeface="Calibri" pitchFamily="34" charset="-120"/>
              </a:rPr>
              <a:t>Full bins are missed until the next scheduled visit.</a:t>
            </a:r>
            <a:endParaRPr lang="en-US" sz="1100" dirty="0"/>
          </a:p>
        </p:txBody>
      </p:sp>
      <p:sp>
        <p:nvSpPr>
          <p:cNvPr id="18" name="Shape 16"/>
          <p:cNvSpPr/>
          <p:nvPr/>
        </p:nvSpPr>
        <p:spPr>
          <a:xfrm>
            <a:off x="6903720" y="3977640"/>
            <a:ext cx="4754880" cy="1051560"/>
          </a:xfrm>
          <a:prstGeom prst="roundRect">
            <a:avLst>
              <a:gd name="adj" fmla="val 6957"/>
            </a:avLst>
          </a:prstGeom>
          <a:solidFill>
            <a:srgbClr val="FFFFFF"/>
          </a:solidFill>
          <a:ln/>
          <a:effectLst>
            <a:outerShdw blurRad="76200" dist="25400" dir="5400000" algn="bl" rotWithShape="0">
              <a:srgbClr val="9CB5A5">
                <a:alpha val="30000"/>
              </a:srgbClr>
            </a:outerShdw>
          </a:effectLst>
        </p:spPr>
      </p:sp>
      <p:sp>
        <p:nvSpPr>
          <p:cNvPr id="19" name="Shape 17"/>
          <p:cNvSpPr/>
          <p:nvPr/>
        </p:nvSpPr>
        <p:spPr>
          <a:xfrm>
            <a:off x="7132320" y="4233672"/>
            <a:ext cx="548640" cy="548640"/>
          </a:xfrm>
          <a:prstGeom prst="ellipse">
            <a:avLst/>
          </a:prstGeom>
          <a:solidFill>
            <a:srgbClr val="1F6B45"/>
          </a:solidFill>
          <a:ln/>
        </p:spPr>
      </p:sp>
      <p:sp>
        <p:nvSpPr>
          <p:cNvPr id="20" name="Text 18"/>
          <p:cNvSpPr/>
          <p:nvPr/>
        </p:nvSpPr>
        <p:spPr>
          <a:xfrm>
            <a:off x="7132320" y="423367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7863840" y="4096512"/>
            <a:ext cx="3566160" cy="365760"/>
          </a:xfrm>
          <a:prstGeom prst="rect">
            <a:avLst/>
          </a:prstGeom>
          <a:noFill/>
          <a:ln/>
        </p:spPr>
        <p:txBody>
          <a:bodyPr wrap="square" lIns="0" tIns="0" rIns="0" bIns="0" rtlCol="0" anchor="ctr"/>
          <a:lstStyle/>
          <a:p>
            <a:pPr marL="0" indent="0">
              <a:buNone/>
            </a:pPr>
            <a:r>
              <a:rPr lang="en-US" sz="1400" b="1" dirty="0">
                <a:solidFill>
                  <a:srgbClr val="16231C"/>
                </a:solidFill>
                <a:latin typeface="Calibri" pitchFamily="34" charset="0"/>
                <a:ea typeface="Calibri" pitchFamily="34" charset="-122"/>
                <a:cs typeface="Calibri" pitchFamily="34" charset="-120"/>
              </a:rPr>
              <a:t>No Real-Time Visibility</a:t>
            </a:r>
            <a:endParaRPr lang="en-US" sz="1400" dirty="0"/>
          </a:p>
        </p:txBody>
      </p:sp>
      <p:sp>
        <p:nvSpPr>
          <p:cNvPr id="22" name="Text 20"/>
          <p:cNvSpPr/>
          <p:nvPr/>
        </p:nvSpPr>
        <p:spPr>
          <a:xfrm>
            <a:off x="7863840" y="4462272"/>
            <a:ext cx="3611880" cy="502920"/>
          </a:xfrm>
          <a:prstGeom prst="rect">
            <a:avLst/>
          </a:prstGeom>
          <a:noFill/>
          <a:ln/>
        </p:spPr>
        <p:txBody>
          <a:bodyPr wrap="square" lIns="0" tIns="0" rIns="0" bIns="0" rtlCol="0" anchor="ctr"/>
          <a:lstStyle/>
          <a:p>
            <a:pPr marL="0" indent="0">
              <a:lnSpc>
                <a:spcPct val="110000"/>
              </a:lnSpc>
              <a:buNone/>
            </a:pPr>
            <a:r>
              <a:rPr lang="en-US" sz="1100" dirty="0">
                <a:solidFill>
                  <a:srgbClr val="526056"/>
                </a:solidFill>
                <a:latin typeface="Calibri" pitchFamily="34" charset="0"/>
                <a:ea typeface="Calibri" pitchFamily="34" charset="-122"/>
                <a:cs typeface="Calibri" pitchFamily="34" charset="-120"/>
              </a:rPr>
              <a:t>No live data on fill levels or truck location.</a:t>
            </a:r>
            <a:endParaRPr lang="en-US" sz="1100" dirty="0"/>
          </a:p>
        </p:txBody>
      </p:sp>
      <p:sp>
        <p:nvSpPr>
          <p:cNvPr id="23" name="Text 21"/>
          <p:cNvSpPr/>
          <p:nvPr/>
        </p:nvSpPr>
        <p:spPr>
          <a:xfrm>
            <a:off x="548640" y="6473952"/>
            <a:ext cx="5486400" cy="274320"/>
          </a:xfrm>
          <a:prstGeom prst="rect">
            <a:avLst/>
          </a:prstGeom>
          <a:noFill/>
          <a:ln/>
        </p:spPr>
        <p:txBody>
          <a:bodyPr wrap="square" lIns="0" tIns="0" rIns="0" bIns="0" rtlCol="0" anchor="ctr"/>
          <a:lstStyle/>
          <a:p>
            <a:pPr marL="0" indent="0">
              <a:buNone/>
            </a:pPr>
            <a:r>
              <a:rPr lang="en-US" sz="900" dirty="0">
                <a:solidFill>
                  <a:srgbClr val="526056"/>
                </a:solidFill>
                <a:latin typeface="Calibri" pitchFamily="34" charset="0"/>
                <a:ea typeface="Calibri" pitchFamily="34" charset="-122"/>
                <a:cs typeface="Calibri" pitchFamily="34" charset="-120"/>
              </a:rPr>
              <a:t>Smart Garbage Monitoring System</a:t>
            </a:r>
            <a:endParaRPr lang="en-US" sz="900" dirty="0"/>
          </a:p>
        </p:txBody>
      </p:sp>
      <p:sp>
        <p:nvSpPr>
          <p:cNvPr id="24" name="Text 22"/>
          <p:cNvSpPr/>
          <p:nvPr/>
        </p:nvSpPr>
        <p:spPr>
          <a:xfrm>
            <a:off x="8899855" y="6473952"/>
            <a:ext cx="2743200" cy="274320"/>
          </a:xfrm>
          <a:prstGeom prst="rect">
            <a:avLst/>
          </a:prstGeom>
          <a:noFill/>
          <a:ln/>
        </p:spPr>
        <p:txBody>
          <a:bodyPr wrap="square" lIns="0" tIns="0" rIns="0" bIns="0" rtlCol="0" anchor="ctr"/>
          <a:lstStyle/>
          <a:p>
            <a:pPr marL="0" indent="0" algn="r">
              <a:buNone/>
            </a:pPr>
            <a:r>
              <a:rPr lang="en-US" sz="900" dirty="0">
                <a:solidFill>
                  <a:srgbClr val="52605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EEF7F1"/>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F6B45"/>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p:nvPr/>
        </p:nvSpPr>
        <p:spPr>
          <a:xfrm>
            <a:off x="1234440" y="411480"/>
            <a:ext cx="9601200" cy="594360"/>
          </a:xfrm>
          <a:prstGeom prst="rect">
            <a:avLst/>
          </a:prstGeom>
          <a:noFill/>
          <a:ln/>
        </p:spPr>
        <p:txBody>
          <a:bodyPr wrap="square" lIns="0" tIns="0" rIns="0" bIns="0" rtlCol="0" anchor="ctr"/>
          <a:lstStyle/>
          <a:p>
            <a:pPr marL="0" indent="0">
              <a:buNone/>
            </a:pPr>
            <a:r>
              <a:rPr lang="en-US" sz="2800" b="1" dirty="0">
                <a:solidFill>
                  <a:srgbClr val="16231C"/>
                </a:solidFill>
                <a:latin typeface="Cambria" pitchFamily="34" charset="0"/>
                <a:ea typeface="Cambria" pitchFamily="34" charset="-122"/>
                <a:cs typeface="Cambria" pitchFamily="34" charset="-120"/>
              </a:rPr>
              <a:t>Project Aim &amp; Proposed System</a:t>
            </a:r>
            <a:endParaRPr lang="en-US" sz="2800" dirty="0"/>
          </a:p>
        </p:txBody>
      </p:sp>
      <p:sp>
        <p:nvSpPr>
          <p:cNvPr id="5" name="Shape 3"/>
          <p:cNvSpPr/>
          <p:nvPr/>
        </p:nvSpPr>
        <p:spPr>
          <a:xfrm>
            <a:off x="548640" y="1170432"/>
            <a:ext cx="11094415" cy="0"/>
          </a:xfrm>
          <a:prstGeom prst="line">
            <a:avLst/>
          </a:prstGeom>
          <a:noFill/>
          <a:ln w="12700">
            <a:solidFill>
              <a:srgbClr val="DCE7DE"/>
            </a:solidFill>
            <a:prstDash val="solid"/>
          </a:ln>
        </p:spPr>
      </p:sp>
      <p:sp>
        <p:nvSpPr>
          <p:cNvPr id="6" name="Text 4"/>
          <p:cNvSpPr/>
          <p:nvPr/>
        </p:nvSpPr>
        <p:spPr>
          <a:xfrm>
            <a:off x="548640" y="1508760"/>
            <a:ext cx="5394960" cy="3566160"/>
          </a:xfrm>
          <a:prstGeom prst="rect">
            <a:avLst/>
          </a:prstGeom>
          <a:noFill/>
          <a:ln/>
        </p:spPr>
        <p:txBody>
          <a:bodyPr wrap="square" lIns="0" tIns="0" rIns="0" bIns="0" rtlCol="0" anchor="ctr"/>
          <a:lstStyle/>
          <a:p>
            <a:pPr marL="0" indent="0">
              <a:lnSpc>
                <a:spcPct val="130000"/>
              </a:lnSpc>
              <a:buNone/>
            </a:pPr>
            <a:r>
              <a:rPr lang="en-US" sz="1450" dirty="0">
                <a:solidFill>
                  <a:srgbClr val="16231C"/>
                </a:solidFill>
                <a:latin typeface="Calibri" pitchFamily="34" charset="0"/>
                <a:ea typeface="Calibri" pitchFamily="34" charset="-122"/>
                <a:cs typeface="Calibri" pitchFamily="34" charset="-120"/>
              </a:rPr>
              <a:t>This project develops an IoT-based smart house-to-house garbage collection system that monitors bin fill-levels using ultrasonic sensors. Once a bin crosses a set threshold (e.g. 80% full), the reading is pushed to a cloud database. A route-optimization algorithm then combines this data with the coordinates of each house to compute the shortest, most efficient collection path — displayed live on a web dashboard for the driver.</a:t>
            </a:r>
            <a:endParaRPr lang="en-US" sz="1450" dirty="0"/>
          </a:p>
        </p:txBody>
      </p:sp>
      <p:sp>
        <p:nvSpPr>
          <p:cNvPr id="7" name="Shape 5"/>
          <p:cNvSpPr/>
          <p:nvPr/>
        </p:nvSpPr>
        <p:spPr>
          <a:xfrm>
            <a:off x="548640" y="5120640"/>
            <a:ext cx="5394960" cy="868680"/>
          </a:xfrm>
          <a:prstGeom prst="roundRect">
            <a:avLst>
              <a:gd name="adj" fmla="val 8421"/>
            </a:avLst>
          </a:prstGeom>
          <a:solidFill>
            <a:srgbClr val="D5EDDC"/>
          </a:solidFill>
          <a:ln/>
        </p:spPr>
      </p:sp>
      <p:sp>
        <p:nvSpPr>
          <p:cNvPr id="8" name="Text 6"/>
          <p:cNvSpPr/>
          <p:nvPr/>
        </p:nvSpPr>
        <p:spPr>
          <a:xfrm>
            <a:off x="777240" y="5120640"/>
            <a:ext cx="4937760" cy="868680"/>
          </a:xfrm>
          <a:prstGeom prst="rect">
            <a:avLst/>
          </a:prstGeom>
          <a:noFill/>
          <a:ln/>
        </p:spPr>
        <p:txBody>
          <a:bodyPr wrap="square" lIns="0" tIns="0" rIns="0" bIns="0" rtlCol="0" anchor="ctr"/>
          <a:lstStyle/>
          <a:p>
            <a:pPr marL="0" indent="0">
              <a:lnSpc>
                <a:spcPct val="120000"/>
              </a:lnSpc>
              <a:buNone/>
            </a:pPr>
            <a:r>
              <a:rPr lang="en-US" sz="1250" i="1" dirty="0">
                <a:solidFill>
                  <a:srgbClr val="1F4D33"/>
                </a:solidFill>
                <a:latin typeface="Calibri" pitchFamily="34" charset="0"/>
                <a:ea typeface="Calibri" pitchFamily="34" charset="-122"/>
                <a:cs typeface="Calibri" pitchFamily="34" charset="-120"/>
              </a:rPr>
              <a:t>Goal: cut travel distance, fuel use, and collection time — while improving overall waste-management efficiency.</a:t>
            </a:r>
            <a:endParaRPr lang="en-US" sz="1250" dirty="0"/>
          </a:p>
        </p:txBody>
      </p:sp>
      <p:sp>
        <p:nvSpPr>
          <p:cNvPr id="9" name="Shape 7"/>
          <p:cNvSpPr/>
          <p:nvPr/>
        </p:nvSpPr>
        <p:spPr>
          <a:xfrm>
            <a:off x="7086600" y="1417320"/>
            <a:ext cx="502920" cy="502920"/>
          </a:xfrm>
          <a:prstGeom prst="ellipse">
            <a:avLst/>
          </a:prstGeom>
          <a:solidFill>
            <a:srgbClr val="2E9E5B"/>
          </a:solidFill>
          <a:ln/>
        </p:spPr>
      </p:sp>
      <p:sp>
        <p:nvSpPr>
          <p:cNvPr id="10" name="Text 8"/>
          <p:cNvSpPr/>
          <p:nvPr/>
        </p:nvSpPr>
        <p:spPr>
          <a:xfrm>
            <a:off x="7086600" y="14173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7338060" y="1920240"/>
            <a:ext cx="0" cy="411480"/>
          </a:xfrm>
          <a:prstGeom prst="line">
            <a:avLst/>
          </a:prstGeom>
          <a:noFill/>
          <a:ln w="19050">
            <a:solidFill>
              <a:srgbClr val="2E9E5B"/>
            </a:solidFill>
            <a:prstDash val="dash"/>
          </a:ln>
        </p:spPr>
      </p:sp>
      <p:sp>
        <p:nvSpPr>
          <p:cNvPr id="12" name="Text 10"/>
          <p:cNvSpPr/>
          <p:nvPr/>
        </p:nvSpPr>
        <p:spPr>
          <a:xfrm>
            <a:off x="7863840" y="1362456"/>
            <a:ext cx="402336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Smart Bin</a:t>
            </a:r>
            <a:endParaRPr lang="en-US" sz="1350" dirty="0"/>
          </a:p>
        </p:txBody>
      </p:sp>
      <p:sp>
        <p:nvSpPr>
          <p:cNvPr id="13" name="Text 11"/>
          <p:cNvSpPr/>
          <p:nvPr/>
        </p:nvSpPr>
        <p:spPr>
          <a:xfrm>
            <a:off x="7863840" y="1673352"/>
            <a:ext cx="4023360" cy="320040"/>
          </a:xfrm>
          <a:prstGeom prst="rect">
            <a:avLst/>
          </a:prstGeom>
          <a:noFill/>
          <a:ln/>
        </p:spPr>
        <p:txBody>
          <a:bodyPr wrap="square" lIns="0" tIns="0" rIns="0" bIns="0" rtlCol="0" anchor="ctr"/>
          <a:lstStyle/>
          <a:p>
            <a:pPr marL="0" indent="0">
              <a:buNone/>
            </a:pPr>
            <a:r>
              <a:rPr lang="en-US" sz="1100" dirty="0">
                <a:solidFill>
                  <a:srgbClr val="526056"/>
                </a:solidFill>
                <a:latin typeface="Calibri" pitchFamily="34" charset="0"/>
                <a:ea typeface="Calibri" pitchFamily="34" charset="-122"/>
                <a:cs typeface="Calibri" pitchFamily="34" charset="-120"/>
              </a:rPr>
              <a:t>HC-SR04 senses fill level</a:t>
            </a:r>
            <a:endParaRPr lang="en-US" sz="1100" dirty="0"/>
          </a:p>
        </p:txBody>
      </p:sp>
      <p:sp>
        <p:nvSpPr>
          <p:cNvPr id="14" name="Shape 12"/>
          <p:cNvSpPr/>
          <p:nvPr/>
        </p:nvSpPr>
        <p:spPr>
          <a:xfrm>
            <a:off x="7086600" y="2331720"/>
            <a:ext cx="502920" cy="502920"/>
          </a:xfrm>
          <a:prstGeom prst="ellipse">
            <a:avLst/>
          </a:prstGeom>
          <a:solidFill>
            <a:srgbClr val="2E9E5B"/>
          </a:solidFill>
          <a:ln/>
        </p:spPr>
      </p:sp>
      <p:sp>
        <p:nvSpPr>
          <p:cNvPr id="15" name="Text 13"/>
          <p:cNvSpPr/>
          <p:nvPr/>
        </p:nvSpPr>
        <p:spPr>
          <a:xfrm>
            <a:off x="7086600" y="23317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338060" y="2834640"/>
            <a:ext cx="0" cy="411480"/>
          </a:xfrm>
          <a:prstGeom prst="line">
            <a:avLst/>
          </a:prstGeom>
          <a:noFill/>
          <a:ln w="19050">
            <a:solidFill>
              <a:srgbClr val="2E9E5B"/>
            </a:solidFill>
            <a:prstDash val="dash"/>
          </a:ln>
        </p:spPr>
      </p:sp>
      <p:sp>
        <p:nvSpPr>
          <p:cNvPr id="17" name="Text 15"/>
          <p:cNvSpPr/>
          <p:nvPr/>
        </p:nvSpPr>
        <p:spPr>
          <a:xfrm>
            <a:off x="7863840" y="2276856"/>
            <a:ext cx="402336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Arduino NodeMCU</a:t>
            </a:r>
            <a:endParaRPr lang="en-US" sz="1350" dirty="0"/>
          </a:p>
        </p:txBody>
      </p:sp>
      <p:sp>
        <p:nvSpPr>
          <p:cNvPr id="18" name="Text 16"/>
          <p:cNvSpPr/>
          <p:nvPr/>
        </p:nvSpPr>
        <p:spPr>
          <a:xfrm>
            <a:off x="7863840" y="2587752"/>
            <a:ext cx="4023360" cy="320040"/>
          </a:xfrm>
          <a:prstGeom prst="rect">
            <a:avLst/>
          </a:prstGeom>
          <a:noFill/>
          <a:ln/>
        </p:spPr>
        <p:txBody>
          <a:bodyPr wrap="square" lIns="0" tIns="0" rIns="0" bIns="0" rtlCol="0" anchor="ctr"/>
          <a:lstStyle/>
          <a:p>
            <a:pPr marL="0" indent="0">
              <a:buNone/>
            </a:pPr>
            <a:r>
              <a:rPr lang="en-US" sz="1100" dirty="0">
                <a:solidFill>
                  <a:srgbClr val="526056"/>
                </a:solidFill>
                <a:latin typeface="Calibri" pitchFamily="34" charset="0"/>
                <a:ea typeface="Calibri" pitchFamily="34" charset="-122"/>
                <a:cs typeface="Calibri" pitchFamily="34" charset="-120"/>
              </a:rPr>
              <a:t>Reads sensor, sends data</a:t>
            </a:r>
            <a:endParaRPr lang="en-US" sz="1100" dirty="0"/>
          </a:p>
        </p:txBody>
      </p:sp>
      <p:sp>
        <p:nvSpPr>
          <p:cNvPr id="19" name="Shape 17"/>
          <p:cNvSpPr/>
          <p:nvPr/>
        </p:nvSpPr>
        <p:spPr>
          <a:xfrm>
            <a:off x="7086600" y="3246120"/>
            <a:ext cx="502920" cy="502920"/>
          </a:xfrm>
          <a:prstGeom prst="ellipse">
            <a:avLst/>
          </a:prstGeom>
          <a:solidFill>
            <a:srgbClr val="2E9E5B"/>
          </a:solidFill>
          <a:ln/>
        </p:spPr>
      </p:sp>
      <p:sp>
        <p:nvSpPr>
          <p:cNvPr id="20" name="Text 18"/>
          <p:cNvSpPr/>
          <p:nvPr/>
        </p:nvSpPr>
        <p:spPr>
          <a:xfrm>
            <a:off x="7086600" y="32461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7338060" y="3749040"/>
            <a:ext cx="0" cy="411480"/>
          </a:xfrm>
          <a:prstGeom prst="line">
            <a:avLst/>
          </a:prstGeom>
          <a:noFill/>
          <a:ln w="19050">
            <a:solidFill>
              <a:srgbClr val="2E9E5B"/>
            </a:solidFill>
            <a:prstDash val="dash"/>
          </a:ln>
        </p:spPr>
      </p:sp>
      <p:sp>
        <p:nvSpPr>
          <p:cNvPr id="22" name="Text 20"/>
          <p:cNvSpPr/>
          <p:nvPr/>
        </p:nvSpPr>
        <p:spPr>
          <a:xfrm>
            <a:off x="7863840" y="3191256"/>
            <a:ext cx="402336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Cloud Database</a:t>
            </a:r>
            <a:endParaRPr lang="en-US" sz="1350" dirty="0"/>
          </a:p>
        </p:txBody>
      </p:sp>
      <p:sp>
        <p:nvSpPr>
          <p:cNvPr id="23" name="Text 21"/>
          <p:cNvSpPr/>
          <p:nvPr/>
        </p:nvSpPr>
        <p:spPr>
          <a:xfrm>
            <a:off x="7863840" y="3502152"/>
            <a:ext cx="4023360" cy="320040"/>
          </a:xfrm>
          <a:prstGeom prst="rect">
            <a:avLst/>
          </a:prstGeom>
          <a:noFill/>
          <a:ln/>
        </p:spPr>
        <p:txBody>
          <a:bodyPr wrap="square" lIns="0" tIns="0" rIns="0" bIns="0" rtlCol="0" anchor="ctr"/>
          <a:lstStyle/>
          <a:p>
            <a:pPr marL="0" indent="0">
              <a:buNone/>
            </a:pPr>
            <a:r>
              <a:rPr lang="en-US" sz="1100" dirty="0">
                <a:solidFill>
                  <a:srgbClr val="526056"/>
                </a:solidFill>
                <a:latin typeface="Calibri" pitchFamily="34" charset="0"/>
                <a:ea typeface="Calibri" pitchFamily="34" charset="-122"/>
                <a:cs typeface="Calibri" pitchFamily="34" charset="-120"/>
              </a:rPr>
              <a:t>Stores fill-level data</a:t>
            </a:r>
            <a:endParaRPr lang="en-US" sz="1100" dirty="0"/>
          </a:p>
        </p:txBody>
      </p:sp>
      <p:sp>
        <p:nvSpPr>
          <p:cNvPr id="24" name="Shape 22"/>
          <p:cNvSpPr/>
          <p:nvPr/>
        </p:nvSpPr>
        <p:spPr>
          <a:xfrm>
            <a:off x="7086600" y="4160520"/>
            <a:ext cx="502920" cy="502920"/>
          </a:xfrm>
          <a:prstGeom prst="ellipse">
            <a:avLst/>
          </a:prstGeom>
          <a:solidFill>
            <a:srgbClr val="2E9E5B"/>
          </a:solidFill>
          <a:ln/>
        </p:spPr>
      </p:sp>
      <p:sp>
        <p:nvSpPr>
          <p:cNvPr id="25" name="Text 23"/>
          <p:cNvSpPr/>
          <p:nvPr/>
        </p:nvSpPr>
        <p:spPr>
          <a:xfrm>
            <a:off x="7086600" y="4160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7863840" y="4105656"/>
            <a:ext cx="402336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Route Algorithm</a:t>
            </a:r>
            <a:endParaRPr lang="en-US" sz="1350" dirty="0"/>
          </a:p>
        </p:txBody>
      </p:sp>
      <p:sp>
        <p:nvSpPr>
          <p:cNvPr id="28" name="Text 26"/>
          <p:cNvSpPr/>
          <p:nvPr/>
        </p:nvSpPr>
        <p:spPr>
          <a:xfrm>
            <a:off x="7863840" y="4416552"/>
            <a:ext cx="4023360" cy="320040"/>
          </a:xfrm>
          <a:prstGeom prst="rect">
            <a:avLst/>
          </a:prstGeom>
          <a:noFill/>
          <a:ln/>
        </p:spPr>
        <p:txBody>
          <a:bodyPr wrap="square" lIns="0" tIns="0" rIns="0" bIns="0" rtlCol="0" anchor="ctr"/>
          <a:lstStyle/>
          <a:p>
            <a:pPr marL="0" indent="0">
              <a:buNone/>
            </a:pPr>
            <a:r>
              <a:rPr lang="en-US" sz="1100" dirty="0">
                <a:solidFill>
                  <a:srgbClr val="526056"/>
                </a:solidFill>
                <a:latin typeface="Calibri" pitchFamily="34" charset="0"/>
                <a:ea typeface="Calibri" pitchFamily="34" charset="-122"/>
                <a:cs typeface="Calibri" pitchFamily="34" charset="-120"/>
              </a:rPr>
              <a:t>Dijkstra / A* finds shortest path</a:t>
            </a:r>
            <a:endParaRPr lang="en-US" sz="1100" dirty="0"/>
          </a:p>
        </p:txBody>
      </p:sp>
      <p:sp>
        <p:nvSpPr>
          <p:cNvPr id="33" name="Text 31"/>
          <p:cNvSpPr/>
          <p:nvPr/>
        </p:nvSpPr>
        <p:spPr>
          <a:xfrm>
            <a:off x="548640" y="6473952"/>
            <a:ext cx="5486400" cy="274320"/>
          </a:xfrm>
          <a:prstGeom prst="rect">
            <a:avLst/>
          </a:prstGeom>
          <a:noFill/>
          <a:ln/>
        </p:spPr>
        <p:txBody>
          <a:bodyPr wrap="square" lIns="0" tIns="0" rIns="0" bIns="0" rtlCol="0" anchor="ctr"/>
          <a:lstStyle/>
          <a:p>
            <a:pPr marL="0" indent="0">
              <a:buNone/>
            </a:pPr>
            <a:r>
              <a:rPr lang="en-US" sz="900" dirty="0">
                <a:solidFill>
                  <a:srgbClr val="526056"/>
                </a:solidFill>
                <a:latin typeface="Calibri" pitchFamily="34" charset="0"/>
                <a:ea typeface="Calibri" pitchFamily="34" charset="-122"/>
                <a:cs typeface="Calibri" pitchFamily="34" charset="-120"/>
              </a:rPr>
              <a:t>Smart Garbage Monitoring System</a:t>
            </a:r>
            <a:endParaRPr lang="en-US" sz="900" dirty="0"/>
          </a:p>
        </p:txBody>
      </p:sp>
      <p:sp>
        <p:nvSpPr>
          <p:cNvPr id="34" name="Text 32"/>
          <p:cNvSpPr/>
          <p:nvPr/>
        </p:nvSpPr>
        <p:spPr>
          <a:xfrm>
            <a:off x="8899855" y="6473952"/>
            <a:ext cx="2743200" cy="274320"/>
          </a:xfrm>
          <a:prstGeom prst="rect">
            <a:avLst/>
          </a:prstGeom>
          <a:noFill/>
          <a:ln/>
        </p:spPr>
        <p:txBody>
          <a:bodyPr wrap="square" lIns="0" tIns="0" rIns="0" bIns="0" rtlCol="0" anchor="ctr"/>
          <a:lstStyle/>
          <a:p>
            <a:pPr marL="0" indent="0" algn="r">
              <a:buNone/>
            </a:pPr>
            <a:r>
              <a:rPr lang="en-US" sz="900" dirty="0">
                <a:solidFill>
                  <a:srgbClr val="52605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EEF7F1"/>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F6B45"/>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p:nvPr/>
        </p:nvSpPr>
        <p:spPr>
          <a:xfrm>
            <a:off x="1234440" y="411480"/>
            <a:ext cx="9601200" cy="594360"/>
          </a:xfrm>
          <a:prstGeom prst="rect">
            <a:avLst/>
          </a:prstGeom>
          <a:noFill/>
          <a:ln/>
        </p:spPr>
        <p:txBody>
          <a:bodyPr wrap="square" lIns="0" tIns="0" rIns="0" bIns="0" rtlCol="0" anchor="ctr"/>
          <a:lstStyle/>
          <a:p>
            <a:pPr marL="0" indent="0">
              <a:buNone/>
            </a:pPr>
            <a:r>
              <a:rPr lang="en-US" sz="2800" b="1" dirty="0">
                <a:solidFill>
                  <a:srgbClr val="16231C"/>
                </a:solidFill>
                <a:latin typeface="Cambria" pitchFamily="34" charset="0"/>
                <a:ea typeface="Cambria" pitchFamily="34" charset="-122"/>
                <a:cs typeface="Cambria" pitchFamily="34" charset="-120"/>
              </a:rPr>
              <a:t>Hardware Components &amp; Budget Estimation</a:t>
            </a:r>
            <a:endParaRPr lang="en-US" sz="2800" dirty="0"/>
          </a:p>
        </p:txBody>
      </p:sp>
      <p:sp>
        <p:nvSpPr>
          <p:cNvPr id="5" name="Shape 3"/>
          <p:cNvSpPr/>
          <p:nvPr/>
        </p:nvSpPr>
        <p:spPr>
          <a:xfrm>
            <a:off x="548640" y="1170432"/>
            <a:ext cx="11094415" cy="0"/>
          </a:xfrm>
          <a:prstGeom prst="line">
            <a:avLst/>
          </a:prstGeom>
          <a:noFill/>
          <a:ln w="12700">
            <a:solidFill>
              <a:srgbClr val="DCE7DE"/>
            </a:solidFill>
            <a:prstDash val="solid"/>
          </a:ln>
        </p:spPr>
      </p:sp>
      <p:sp>
        <p:nvSpPr>
          <p:cNvPr id="6" name="Text 4"/>
          <p:cNvSpPr/>
          <p:nvPr/>
        </p:nvSpPr>
        <p:spPr>
          <a:xfrm>
            <a:off x="548640" y="1234440"/>
            <a:ext cx="11064240" cy="365760"/>
          </a:xfrm>
          <a:prstGeom prst="rect">
            <a:avLst/>
          </a:prstGeom>
          <a:noFill/>
          <a:ln/>
        </p:spPr>
        <p:txBody>
          <a:bodyPr wrap="square" lIns="0" tIns="0" rIns="0" bIns="0" rtlCol="0" anchor="ctr"/>
          <a:lstStyle/>
          <a:p>
            <a:pPr marL="0" indent="0">
              <a:buNone/>
            </a:pPr>
            <a:r>
              <a:rPr lang="en-US" sz="1100" i="1" dirty="0">
                <a:solidFill>
                  <a:srgbClr val="526056"/>
                </a:solidFill>
                <a:latin typeface="Calibri" pitchFamily="34" charset="0"/>
                <a:ea typeface="Calibri" pitchFamily="34" charset="-122"/>
                <a:cs typeface="Calibri" pitchFamily="34" charset="-120"/>
              </a:rPr>
              <a:t>Estimated hardware and materials for the exhibition prototype. Prices are approximate local-market estimates and may vary by supplier and quantity.</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4892040" cy="2633472"/>
        </p:xfrm>
        <a:graphic>
          <a:graphicData uri="http://schemas.openxmlformats.org/drawingml/2006/table">
            <a:tbl>
              <a:tblPr/>
              <a:tblGrid>
                <a:gridCol w="4114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29184">
                <a:tc>
                  <a:txBody>
                    <a:bodyPr/>
                    <a:lstStyle/>
                    <a:p>
                      <a:pPr marL="0" indent="0">
                        <a:buNone/>
                      </a:pPr>
                      <a:r>
                        <a:rPr lang="en-US" sz="1050" b="1" dirty="0">
                          <a:solidFill>
                            <a:srgbClr val="FFFFFF"/>
                          </a:solidFill>
                        </a:rPr>
                        <a:t>No.</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tc>
                  <a:txBody>
                    <a:bodyPr/>
                    <a:lstStyle/>
                    <a:p>
                      <a:pPr marL="0" indent="0">
                        <a:buNone/>
                      </a:pPr>
                      <a:r>
                        <a:rPr lang="en-US" sz="1050" b="1" dirty="0">
                          <a:solidFill>
                            <a:srgbClr val="FFFFFF"/>
                          </a:solidFill>
                        </a:rPr>
                        <a:t>Component</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tc>
                  <a:txBody>
                    <a:bodyPr/>
                    <a:lstStyle/>
                    <a:p>
                      <a:pPr marL="0" indent="0">
                        <a:buNone/>
                      </a:pPr>
                      <a:r>
                        <a:rPr lang="en-US" sz="1050" b="1" dirty="0">
                          <a:solidFill>
                            <a:srgbClr val="FFFFFF"/>
                          </a:solidFill>
                        </a:rPr>
                        <a:t>Qty</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tc>
                  <a:txBody>
                    <a:bodyPr/>
                    <a:lstStyle/>
                    <a:p>
                      <a:pPr marL="0" indent="0">
                        <a:buNone/>
                      </a:pPr>
                      <a:r>
                        <a:rPr lang="en-US" sz="1050" b="1" dirty="0">
                          <a:solidFill>
                            <a:srgbClr val="FFFFFF"/>
                          </a:solidFill>
                        </a:rPr>
                        <a:t>Unit Price</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tc>
                  <a:txBody>
                    <a:bodyPr/>
                    <a:lstStyle/>
                    <a:p>
                      <a:pPr marL="0" indent="0">
                        <a:buNone/>
                      </a:pPr>
                      <a:r>
                        <a:rPr lang="en-US" sz="1050" b="1" dirty="0">
                          <a:solidFill>
                            <a:srgbClr val="FFFFFF"/>
                          </a:solidFill>
                        </a:rPr>
                        <a:t>Total</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extLst>
                  <a:ext uri="{0D108BD9-81ED-4DB2-BD59-A6C34878D82A}">
                    <a16:rowId xmlns:a16="http://schemas.microsoft.com/office/drawing/2014/main" val="10000"/>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Arduino NodeMCU</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₹350-450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HC-SR04 Ultrasonic Sensor</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Breadboard</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Jumper Wires (Packs)</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₹125</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LEDs (Red, Yellow, Green)</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220Ω Resistors</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Piezo Buzzer</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446520" y="1691640"/>
          <a:ext cx="4892040" cy="2633472"/>
        </p:xfrm>
        <a:graphic>
          <a:graphicData uri="http://schemas.openxmlformats.org/drawingml/2006/table">
            <a:tbl>
              <a:tblPr/>
              <a:tblGrid>
                <a:gridCol w="4114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29184">
                <a:tc>
                  <a:txBody>
                    <a:bodyPr/>
                    <a:lstStyle/>
                    <a:p>
                      <a:pPr marL="0" indent="0">
                        <a:buNone/>
                      </a:pPr>
                      <a:r>
                        <a:rPr lang="en-US" sz="1050" b="1" dirty="0">
                          <a:solidFill>
                            <a:srgbClr val="FFFFFF"/>
                          </a:solidFill>
                        </a:rPr>
                        <a:t>No.</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tc>
                  <a:txBody>
                    <a:bodyPr/>
                    <a:lstStyle/>
                    <a:p>
                      <a:pPr marL="0" indent="0">
                        <a:buNone/>
                      </a:pPr>
                      <a:r>
                        <a:rPr lang="en-US" sz="1050" b="1" dirty="0">
                          <a:solidFill>
                            <a:srgbClr val="FFFFFF"/>
                          </a:solidFill>
                        </a:rPr>
                        <a:t>Component</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tc>
                  <a:txBody>
                    <a:bodyPr/>
                    <a:lstStyle/>
                    <a:p>
                      <a:pPr marL="0" indent="0">
                        <a:buNone/>
                      </a:pPr>
                      <a:r>
                        <a:rPr lang="en-US" sz="1050" b="1" dirty="0">
                          <a:solidFill>
                            <a:srgbClr val="FFFFFF"/>
                          </a:solidFill>
                        </a:rPr>
                        <a:t>Qty</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tc>
                  <a:txBody>
                    <a:bodyPr/>
                    <a:lstStyle/>
                    <a:p>
                      <a:pPr marL="0" indent="0">
                        <a:buNone/>
                      </a:pPr>
                      <a:r>
                        <a:rPr lang="en-US" sz="1050" b="1" dirty="0">
                          <a:solidFill>
                            <a:srgbClr val="FFFFFF"/>
                          </a:solidFill>
                        </a:rPr>
                        <a:t>Unit Price</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tc>
                  <a:txBody>
                    <a:bodyPr/>
                    <a:lstStyle/>
                    <a:p>
                      <a:pPr marL="0" indent="0">
                        <a:buNone/>
                      </a:pPr>
                      <a:r>
                        <a:rPr lang="en-US" sz="1050" b="1" dirty="0">
                          <a:solidFill>
                            <a:srgbClr val="FFFFFF"/>
                          </a:solidFill>
                        </a:rPr>
                        <a:t>Total</a:t>
                      </a:r>
                      <a:endParaRPr lang="en-US" sz="1050" dirty="0"/>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solidFill>
                      <a:srgbClr val="1F6B45"/>
                    </a:solidFill>
                  </a:tcPr>
                </a:tc>
                <a:extLst>
                  <a:ext uri="{0D108BD9-81ED-4DB2-BD59-A6C34878D82A}">
                    <a16:rowId xmlns:a16="http://schemas.microsoft.com/office/drawing/2014/main" val="10000"/>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USB Cable</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Foam Board / MDF Base</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Mini Houses</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Mini Garbage Bins</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Mini Garbage Truck</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Road Materials &amp; Decoration</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l">
                        <a:buNone/>
                      </a:pPr>
                      <a:r>
                        <a:rPr lang="en-US" sz="1000" dirty="0">
                          <a:solidFill>
                            <a:srgbClr val="16231C"/>
                          </a:solidFill>
                          <a:latin typeface="Calibri" pitchFamily="34" charset="0"/>
                          <a:ea typeface="Calibri" pitchFamily="34" charset="-122"/>
                          <a:cs typeface="Calibri" pitchFamily="34" charset="-120"/>
                        </a:rPr>
                        <a:t>Glue / Tape / Misc.</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tc>
                  <a:txBody>
                    <a:bodyPr/>
                    <a:lstStyle/>
                    <a:p>
                      <a:pPr marL="0" indent="0" algn="ctr">
                        <a:buNone/>
                      </a:pPr>
                      <a:r>
                        <a:rPr lang="en-US" sz="1000" dirty="0">
                          <a:solidFill>
                            <a:srgbClr val="16231C"/>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anchor="ctr">
                    <a:lnL w="9525" cap="flat" cmpd="sng" algn="ctr">
                      <a:solidFill>
                        <a:srgbClr val="DCE7DE"/>
                      </a:solidFill>
                      <a:prstDash val="solid"/>
                      <a:round/>
                      <a:headEnd type="none" w="med" len="med"/>
                      <a:tailEnd type="none" w="med" len="med"/>
                    </a:lnL>
                    <a:lnR w="9525" cap="flat" cmpd="sng" algn="ctr">
                      <a:solidFill>
                        <a:srgbClr val="DCE7DE"/>
                      </a:solidFill>
                      <a:prstDash val="solid"/>
                      <a:round/>
                      <a:headEnd type="none" w="med" len="med"/>
                      <a:tailEnd type="none" w="med" len="med"/>
                    </a:lnR>
                    <a:lnT w="9525" cap="flat" cmpd="sng" algn="ctr">
                      <a:solidFill>
                        <a:srgbClr val="DCE7DE"/>
                      </a:solidFill>
                      <a:prstDash val="solid"/>
                      <a:round/>
                      <a:headEnd type="none" w="med" len="med"/>
                      <a:tailEnd type="none" w="med" len="med"/>
                    </a:lnT>
                    <a:lnB w="9525" cap="flat" cmpd="sng" algn="ctr">
                      <a:solidFill>
                        <a:srgbClr val="DCE7D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Shape 5"/>
          <p:cNvSpPr/>
          <p:nvPr/>
        </p:nvSpPr>
        <p:spPr>
          <a:xfrm>
            <a:off x="6446520" y="5074920"/>
            <a:ext cx="4892040" cy="777240"/>
          </a:xfrm>
          <a:prstGeom prst="roundRect">
            <a:avLst>
              <a:gd name="adj" fmla="val 9412"/>
            </a:avLst>
          </a:prstGeom>
          <a:solidFill>
            <a:srgbClr val="D5EDDC"/>
          </a:solidFill>
          <a:ln/>
        </p:spPr>
      </p:sp>
      <p:sp>
        <p:nvSpPr>
          <p:cNvPr id="10" name="Text 6"/>
          <p:cNvSpPr/>
          <p:nvPr/>
        </p:nvSpPr>
        <p:spPr>
          <a:xfrm>
            <a:off x="6675120" y="5074920"/>
            <a:ext cx="2926080" cy="777240"/>
          </a:xfrm>
          <a:prstGeom prst="rect">
            <a:avLst/>
          </a:prstGeom>
          <a:noFill/>
          <a:ln/>
        </p:spPr>
        <p:txBody>
          <a:bodyPr wrap="square" lIns="0" tIns="0" rIns="0" bIns="0" rtlCol="0" anchor="ctr"/>
          <a:lstStyle/>
          <a:p>
            <a:pPr marL="0" indent="0">
              <a:buNone/>
            </a:pPr>
            <a:r>
              <a:rPr lang="en-US" sz="1300" dirty="0">
                <a:solidFill>
                  <a:srgbClr val="1F4D33"/>
                </a:solidFill>
                <a:latin typeface="Calibri" pitchFamily="34" charset="0"/>
                <a:ea typeface="Calibri" pitchFamily="34" charset="-122"/>
                <a:cs typeface="Calibri" pitchFamily="34" charset="-120"/>
              </a:rPr>
              <a:t>Estimated Total Budget</a:t>
            </a:r>
            <a:endParaRPr lang="en-US" sz="1300" dirty="0"/>
          </a:p>
        </p:txBody>
      </p:sp>
      <p:sp>
        <p:nvSpPr>
          <p:cNvPr id="11" name="Text 7"/>
          <p:cNvSpPr/>
          <p:nvPr/>
        </p:nvSpPr>
        <p:spPr>
          <a:xfrm>
            <a:off x="9509760" y="5074920"/>
            <a:ext cx="1737360" cy="777240"/>
          </a:xfrm>
          <a:prstGeom prst="rect">
            <a:avLst/>
          </a:prstGeom>
          <a:noFill/>
          <a:ln/>
        </p:spPr>
        <p:txBody>
          <a:bodyPr wrap="square" lIns="0" tIns="0" rIns="0" bIns="0" rtlCol="0" anchor="ctr"/>
          <a:lstStyle/>
          <a:p>
            <a:pPr marL="0" indent="0" algn="r">
              <a:buNone/>
            </a:pPr>
            <a:r>
              <a:rPr lang="en-US" sz="2400" b="1" dirty="0">
                <a:solidFill>
                  <a:srgbClr val="1F6B45"/>
                </a:solidFill>
                <a:latin typeface="Cambria" pitchFamily="34" charset="0"/>
                <a:ea typeface="Cambria" pitchFamily="34" charset="-122"/>
                <a:cs typeface="Cambria" pitchFamily="34" charset="-120"/>
              </a:rPr>
              <a:t>₹ 2,955</a:t>
            </a:r>
            <a:endParaRPr lang="en-US" sz="2400" dirty="0"/>
          </a:p>
        </p:txBody>
      </p:sp>
      <p:sp>
        <p:nvSpPr>
          <p:cNvPr id="12" name="Text 8"/>
          <p:cNvSpPr/>
          <p:nvPr/>
        </p:nvSpPr>
        <p:spPr>
          <a:xfrm>
            <a:off x="548640" y="5257800"/>
            <a:ext cx="4892040" cy="457200"/>
          </a:xfrm>
          <a:prstGeom prst="rect">
            <a:avLst/>
          </a:prstGeom>
          <a:noFill/>
          <a:ln/>
        </p:spPr>
        <p:txBody>
          <a:bodyPr wrap="square" lIns="0" tIns="0" rIns="0" bIns="0" rtlCol="0" anchor="ctr"/>
          <a:lstStyle/>
          <a:p>
            <a:pPr marL="0" indent="0">
              <a:buNone/>
            </a:pPr>
            <a:r>
              <a:rPr lang="en-US" sz="950" i="1" dirty="0">
                <a:solidFill>
                  <a:srgbClr val="526056"/>
                </a:solidFill>
                <a:latin typeface="Calibri" pitchFamily="34" charset="0"/>
                <a:ea typeface="Calibri" pitchFamily="34" charset="-122"/>
                <a:cs typeface="Calibri" pitchFamily="34" charset="-120"/>
              </a:rPr>
              <a:t>Note: 220Ω resistor total shown as ₹30, approx. ₹20 net of bulk-pack pricing.</a:t>
            </a:r>
            <a:endParaRPr lang="en-US" sz="95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900" dirty="0">
                <a:solidFill>
                  <a:srgbClr val="526056"/>
                </a:solidFill>
                <a:latin typeface="Calibri" pitchFamily="34" charset="0"/>
                <a:ea typeface="Calibri" pitchFamily="34" charset="-122"/>
                <a:cs typeface="Calibri" pitchFamily="34" charset="-120"/>
              </a:rPr>
              <a:t>Smart Garbage Monitoring System</a:t>
            </a:r>
            <a:endParaRPr lang="en-US" sz="900" dirty="0"/>
          </a:p>
        </p:txBody>
      </p:sp>
      <p:sp>
        <p:nvSpPr>
          <p:cNvPr id="14" name="Text 10"/>
          <p:cNvSpPr/>
          <p:nvPr/>
        </p:nvSpPr>
        <p:spPr>
          <a:xfrm>
            <a:off x="8899855" y="6473952"/>
            <a:ext cx="2743200" cy="274320"/>
          </a:xfrm>
          <a:prstGeom prst="rect">
            <a:avLst/>
          </a:prstGeom>
          <a:noFill/>
          <a:ln/>
        </p:spPr>
        <p:txBody>
          <a:bodyPr wrap="square" lIns="0" tIns="0" rIns="0" bIns="0" rtlCol="0" anchor="ctr"/>
          <a:lstStyle/>
          <a:p>
            <a:pPr marL="0" indent="0" algn="r">
              <a:buNone/>
            </a:pPr>
            <a:r>
              <a:rPr lang="en-US" sz="900" dirty="0">
                <a:solidFill>
                  <a:srgbClr val="52605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EF7F1"/>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F6B45"/>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p:nvPr/>
        </p:nvSpPr>
        <p:spPr>
          <a:xfrm>
            <a:off x="1234440" y="411480"/>
            <a:ext cx="9601200" cy="594360"/>
          </a:xfrm>
          <a:prstGeom prst="rect">
            <a:avLst/>
          </a:prstGeom>
          <a:noFill/>
          <a:ln/>
        </p:spPr>
        <p:txBody>
          <a:bodyPr wrap="square" lIns="0" tIns="0" rIns="0" bIns="0" rtlCol="0" anchor="ctr"/>
          <a:lstStyle/>
          <a:p>
            <a:pPr marL="0" indent="0">
              <a:buNone/>
            </a:pPr>
            <a:r>
              <a:rPr lang="en-US" sz="2800" b="1" dirty="0">
                <a:solidFill>
                  <a:srgbClr val="16231C"/>
                </a:solidFill>
                <a:latin typeface="Cambria" pitchFamily="34" charset="0"/>
                <a:ea typeface="Cambria" pitchFamily="34" charset="-122"/>
                <a:cs typeface="Cambria" pitchFamily="34" charset="-120"/>
              </a:rPr>
              <a:t>Software Stack &amp; Fill-Level Indicator</a:t>
            </a:r>
            <a:endParaRPr lang="en-US" sz="2800" dirty="0"/>
          </a:p>
        </p:txBody>
      </p:sp>
      <p:sp>
        <p:nvSpPr>
          <p:cNvPr id="5" name="Shape 3"/>
          <p:cNvSpPr/>
          <p:nvPr/>
        </p:nvSpPr>
        <p:spPr>
          <a:xfrm>
            <a:off x="548640" y="1170432"/>
            <a:ext cx="11094415" cy="0"/>
          </a:xfrm>
          <a:prstGeom prst="line">
            <a:avLst/>
          </a:prstGeom>
          <a:noFill/>
          <a:ln w="12700">
            <a:solidFill>
              <a:srgbClr val="DCE7DE"/>
            </a:solidFill>
            <a:prstDash val="solid"/>
          </a:ln>
        </p:spPr>
      </p:sp>
      <p:sp>
        <p:nvSpPr>
          <p:cNvPr id="6" name="Text 4"/>
          <p:cNvSpPr/>
          <p:nvPr/>
        </p:nvSpPr>
        <p:spPr>
          <a:xfrm>
            <a:off x="548640" y="1417320"/>
            <a:ext cx="5486400" cy="365760"/>
          </a:xfrm>
          <a:prstGeom prst="rect">
            <a:avLst/>
          </a:prstGeom>
          <a:noFill/>
          <a:ln/>
        </p:spPr>
        <p:txBody>
          <a:bodyPr wrap="square" lIns="0" tIns="0" rIns="0" bIns="0" rtlCol="0" anchor="ctr"/>
          <a:lstStyle/>
          <a:p>
            <a:pPr marL="0" indent="0">
              <a:buNone/>
            </a:pPr>
            <a:r>
              <a:rPr lang="en-US" sz="1500" b="1" dirty="0">
                <a:solidFill>
                  <a:srgbClr val="1F6B45"/>
                </a:solidFill>
                <a:latin typeface="Calibri" pitchFamily="34" charset="0"/>
                <a:ea typeface="Calibri" pitchFamily="34" charset="-122"/>
                <a:cs typeface="Calibri" pitchFamily="34" charset="-120"/>
              </a:rPr>
              <a:t>Software Stack (Free &amp; Open Tools)</a:t>
            </a:r>
            <a:endParaRPr lang="en-US" sz="1500" dirty="0"/>
          </a:p>
        </p:txBody>
      </p:sp>
      <p:sp>
        <p:nvSpPr>
          <p:cNvPr id="7" name="Shape 5"/>
          <p:cNvSpPr/>
          <p:nvPr/>
        </p:nvSpPr>
        <p:spPr>
          <a:xfrm>
            <a:off x="548640" y="1965960"/>
            <a:ext cx="384048" cy="384048"/>
          </a:xfrm>
          <a:prstGeom prst="ellipse">
            <a:avLst/>
          </a:prstGeom>
          <a:solidFill>
            <a:srgbClr val="2E9E5B"/>
          </a:solidFill>
          <a:ln/>
        </p:spPr>
      </p:sp>
      <p:sp>
        <p:nvSpPr>
          <p:cNvPr id="8" name="Text 6"/>
          <p:cNvSpPr/>
          <p:nvPr/>
        </p:nvSpPr>
        <p:spPr>
          <a:xfrm>
            <a:off x="548640" y="196596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097280" y="1965960"/>
            <a:ext cx="5029200" cy="384048"/>
          </a:xfrm>
          <a:prstGeom prst="rect">
            <a:avLst/>
          </a:prstGeom>
          <a:noFill/>
          <a:ln/>
        </p:spPr>
        <p:txBody>
          <a:bodyPr wrap="square" lIns="0" tIns="0" rIns="0" bIns="0" rtlCol="0" anchor="ctr"/>
          <a:lstStyle/>
          <a:p>
            <a:pPr marL="0" indent="0">
              <a:buNone/>
            </a:pPr>
            <a:r>
              <a:rPr lang="en-US" sz="1300" dirty="0">
                <a:solidFill>
                  <a:srgbClr val="16231C"/>
                </a:solidFill>
                <a:latin typeface="Calibri" pitchFamily="34" charset="0"/>
                <a:ea typeface="Calibri" pitchFamily="34" charset="-122"/>
                <a:cs typeface="Calibri" pitchFamily="34" charset="-120"/>
              </a:rPr>
              <a:t>Arduino IDE</a:t>
            </a:r>
            <a:endParaRPr lang="en-US" sz="1300" dirty="0"/>
          </a:p>
        </p:txBody>
      </p:sp>
      <p:sp>
        <p:nvSpPr>
          <p:cNvPr id="10" name="Shape 8"/>
          <p:cNvSpPr/>
          <p:nvPr/>
        </p:nvSpPr>
        <p:spPr>
          <a:xfrm>
            <a:off x="548640" y="2532888"/>
            <a:ext cx="384048" cy="384048"/>
          </a:xfrm>
          <a:prstGeom prst="ellipse">
            <a:avLst/>
          </a:prstGeom>
          <a:solidFill>
            <a:srgbClr val="2E9E5B"/>
          </a:solidFill>
          <a:ln/>
        </p:spPr>
      </p:sp>
      <p:sp>
        <p:nvSpPr>
          <p:cNvPr id="11" name="Text 9"/>
          <p:cNvSpPr/>
          <p:nvPr/>
        </p:nvSpPr>
        <p:spPr>
          <a:xfrm>
            <a:off x="548640" y="253288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97280" y="2532888"/>
            <a:ext cx="5029200" cy="384048"/>
          </a:xfrm>
          <a:prstGeom prst="rect">
            <a:avLst/>
          </a:prstGeom>
          <a:noFill/>
          <a:ln/>
        </p:spPr>
        <p:txBody>
          <a:bodyPr wrap="square" lIns="0" tIns="0" rIns="0" bIns="0" rtlCol="0" anchor="ctr"/>
          <a:lstStyle/>
          <a:p>
            <a:pPr marL="0" indent="0">
              <a:buNone/>
            </a:pPr>
            <a:r>
              <a:rPr lang="en-US" sz="1300" dirty="0">
                <a:solidFill>
                  <a:srgbClr val="16231C"/>
                </a:solidFill>
                <a:latin typeface="Calibri" pitchFamily="34" charset="0"/>
                <a:ea typeface="Calibri" pitchFamily="34" charset="-122"/>
                <a:cs typeface="Calibri" pitchFamily="34" charset="-120"/>
              </a:rPr>
              <a:t>Firebase</a:t>
            </a:r>
            <a:endParaRPr lang="en-US" sz="1300" dirty="0"/>
          </a:p>
        </p:txBody>
      </p:sp>
      <p:sp>
        <p:nvSpPr>
          <p:cNvPr id="13" name="Shape 11"/>
          <p:cNvSpPr/>
          <p:nvPr/>
        </p:nvSpPr>
        <p:spPr>
          <a:xfrm>
            <a:off x="548640" y="3099816"/>
            <a:ext cx="384048" cy="384048"/>
          </a:xfrm>
          <a:prstGeom prst="ellipse">
            <a:avLst/>
          </a:prstGeom>
          <a:solidFill>
            <a:srgbClr val="2E9E5B"/>
          </a:solidFill>
          <a:ln/>
        </p:spPr>
      </p:sp>
      <p:sp>
        <p:nvSpPr>
          <p:cNvPr id="14" name="Text 12"/>
          <p:cNvSpPr/>
          <p:nvPr/>
        </p:nvSpPr>
        <p:spPr>
          <a:xfrm>
            <a:off x="548640" y="309981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097280" y="3099816"/>
            <a:ext cx="5029200" cy="384048"/>
          </a:xfrm>
          <a:prstGeom prst="rect">
            <a:avLst/>
          </a:prstGeom>
          <a:noFill/>
          <a:ln/>
        </p:spPr>
        <p:txBody>
          <a:bodyPr wrap="square" lIns="0" tIns="0" rIns="0" bIns="0" rtlCol="0" anchor="ctr"/>
          <a:lstStyle/>
          <a:p>
            <a:pPr marL="0" indent="0">
              <a:buNone/>
            </a:pPr>
            <a:r>
              <a:rPr lang="en-US" sz="1300" dirty="0">
                <a:solidFill>
                  <a:srgbClr val="16231C"/>
                </a:solidFill>
                <a:latin typeface="Calibri" pitchFamily="34" charset="0"/>
                <a:ea typeface="Calibri" pitchFamily="34" charset="-122"/>
                <a:cs typeface="Calibri" pitchFamily="34" charset="-120"/>
              </a:rPr>
              <a:t>VS Code</a:t>
            </a:r>
            <a:endParaRPr lang="en-US" sz="1300" dirty="0"/>
          </a:p>
        </p:txBody>
      </p:sp>
      <p:sp>
        <p:nvSpPr>
          <p:cNvPr id="16" name="Shape 14"/>
          <p:cNvSpPr/>
          <p:nvPr/>
        </p:nvSpPr>
        <p:spPr>
          <a:xfrm>
            <a:off x="548640" y="3666744"/>
            <a:ext cx="384048" cy="384048"/>
          </a:xfrm>
          <a:prstGeom prst="ellipse">
            <a:avLst/>
          </a:prstGeom>
          <a:solidFill>
            <a:srgbClr val="2E9E5B"/>
          </a:solidFill>
          <a:ln/>
        </p:spPr>
      </p:sp>
      <p:sp>
        <p:nvSpPr>
          <p:cNvPr id="17" name="Text 15"/>
          <p:cNvSpPr/>
          <p:nvPr/>
        </p:nvSpPr>
        <p:spPr>
          <a:xfrm>
            <a:off x="548640" y="36667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097280" y="3666744"/>
            <a:ext cx="5029200" cy="384048"/>
          </a:xfrm>
          <a:prstGeom prst="rect">
            <a:avLst/>
          </a:prstGeom>
          <a:noFill/>
          <a:ln/>
        </p:spPr>
        <p:txBody>
          <a:bodyPr wrap="square" lIns="0" tIns="0" rIns="0" bIns="0" rtlCol="0" anchor="ctr"/>
          <a:lstStyle/>
          <a:p>
            <a:pPr marL="0" indent="0">
              <a:buNone/>
            </a:pPr>
            <a:r>
              <a:rPr lang="en-US" sz="1300" dirty="0">
                <a:solidFill>
                  <a:srgbClr val="16231C"/>
                </a:solidFill>
                <a:latin typeface="Calibri" pitchFamily="34" charset="0"/>
                <a:ea typeface="Calibri" pitchFamily="34" charset="-122"/>
                <a:cs typeface="Calibri" pitchFamily="34" charset="-120"/>
              </a:rPr>
              <a:t>Leaflet / OpenStreetMap or Google Maps API</a:t>
            </a:r>
            <a:endParaRPr lang="en-US" sz="1300" dirty="0"/>
          </a:p>
        </p:txBody>
      </p:sp>
      <p:sp>
        <p:nvSpPr>
          <p:cNvPr id="19" name="Shape 17"/>
          <p:cNvSpPr/>
          <p:nvPr/>
        </p:nvSpPr>
        <p:spPr>
          <a:xfrm>
            <a:off x="548640" y="4233672"/>
            <a:ext cx="384048" cy="384048"/>
          </a:xfrm>
          <a:prstGeom prst="ellipse">
            <a:avLst/>
          </a:prstGeom>
          <a:solidFill>
            <a:srgbClr val="2E9E5B"/>
          </a:solidFill>
          <a:ln/>
        </p:spPr>
      </p:sp>
      <p:sp>
        <p:nvSpPr>
          <p:cNvPr id="20" name="Text 18"/>
          <p:cNvSpPr/>
          <p:nvPr/>
        </p:nvSpPr>
        <p:spPr>
          <a:xfrm>
            <a:off x="548640" y="423367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1097280" y="4233672"/>
            <a:ext cx="5029200" cy="384048"/>
          </a:xfrm>
          <a:prstGeom prst="rect">
            <a:avLst/>
          </a:prstGeom>
          <a:noFill/>
          <a:ln/>
        </p:spPr>
        <p:txBody>
          <a:bodyPr wrap="square" lIns="0" tIns="0" rIns="0" bIns="0" rtlCol="0" anchor="ctr"/>
          <a:lstStyle/>
          <a:p>
            <a:pPr marL="0" indent="0">
              <a:buNone/>
            </a:pPr>
            <a:r>
              <a:rPr lang="en-US" sz="1300" dirty="0">
                <a:solidFill>
                  <a:srgbClr val="16231C"/>
                </a:solidFill>
                <a:latin typeface="Calibri" pitchFamily="34" charset="0"/>
                <a:ea typeface="Calibri" pitchFamily="34" charset="-122"/>
                <a:cs typeface="Calibri" pitchFamily="34" charset="-120"/>
              </a:rPr>
              <a:t>HTML / CSS / JavaScript Dashboard</a:t>
            </a:r>
            <a:endParaRPr lang="en-US" sz="1300" dirty="0"/>
          </a:p>
        </p:txBody>
      </p:sp>
      <p:sp>
        <p:nvSpPr>
          <p:cNvPr id="22" name="Shape 20"/>
          <p:cNvSpPr/>
          <p:nvPr/>
        </p:nvSpPr>
        <p:spPr>
          <a:xfrm>
            <a:off x="548640" y="4800600"/>
            <a:ext cx="384048" cy="384048"/>
          </a:xfrm>
          <a:prstGeom prst="ellipse">
            <a:avLst/>
          </a:prstGeom>
          <a:solidFill>
            <a:srgbClr val="2E9E5B"/>
          </a:solidFill>
          <a:ln/>
        </p:spPr>
      </p:sp>
      <p:sp>
        <p:nvSpPr>
          <p:cNvPr id="23" name="Text 21"/>
          <p:cNvSpPr/>
          <p:nvPr/>
        </p:nvSpPr>
        <p:spPr>
          <a:xfrm>
            <a:off x="548640" y="48006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4" name="Text 22"/>
          <p:cNvSpPr/>
          <p:nvPr/>
        </p:nvSpPr>
        <p:spPr>
          <a:xfrm>
            <a:off x="1097280" y="4800600"/>
            <a:ext cx="5029200" cy="384048"/>
          </a:xfrm>
          <a:prstGeom prst="rect">
            <a:avLst/>
          </a:prstGeom>
          <a:noFill/>
          <a:ln/>
        </p:spPr>
        <p:txBody>
          <a:bodyPr wrap="square" lIns="0" tIns="0" rIns="0" bIns="0" rtlCol="0" anchor="ctr"/>
          <a:lstStyle/>
          <a:p>
            <a:pPr marL="0" indent="0">
              <a:buNone/>
            </a:pPr>
            <a:r>
              <a:rPr lang="en-US" sz="1300" dirty="0">
                <a:solidFill>
                  <a:srgbClr val="16231C"/>
                </a:solidFill>
                <a:latin typeface="Calibri" pitchFamily="34" charset="0"/>
                <a:ea typeface="Calibri" pitchFamily="34" charset="-122"/>
                <a:cs typeface="Calibri" pitchFamily="34" charset="-120"/>
              </a:rPr>
              <a:t>Dijkstra / A* Route Optimization</a:t>
            </a:r>
            <a:endParaRPr lang="en-US" sz="1300" dirty="0"/>
          </a:p>
        </p:txBody>
      </p:sp>
      <p:sp>
        <p:nvSpPr>
          <p:cNvPr id="25" name="Text 23"/>
          <p:cNvSpPr/>
          <p:nvPr/>
        </p:nvSpPr>
        <p:spPr>
          <a:xfrm>
            <a:off x="6766560" y="1417320"/>
            <a:ext cx="4937760" cy="365760"/>
          </a:xfrm>
          <a:prstGeom prst="rect">
            <a:avLst/>
          </a:prstGeom>
          <a:noFill/>
          <a:ln/>
        </p:spPr>
        <p:txBody>
          <a:bodyPr wrap="square" lIns="0" tIns="0" rIns="0" bIns="0" rtlCol="0" anchor="ctr"/>
          <a:lstStyle/>
          <a:p>
            <a:pPr marL="0" indent="0">
              <a:buNone/>
            </a:pPr>
            <a:r>
              <a:rPr lang="en-US" sz="1500" b="1" dirty="0">
                <a:solidFill>
                  <a:srgbClr val="1F6B45"/>
                </a:solidFill>
                <a:latin typeface="Calibri" pitchFamily="34" charset="0"/>
                <a:ea typeface="Calibri" pitchFamily="34" charset="-122"/>
                <a:cs typeface="Calibri" pitchFamily="34" charset="-120"/>
              </a:rPr>
              <a:t>Bin Fill-Level Indicator (LED Thresholds)</a:t>
            </a:r>
            <a:endParaRPr lang="en-US" sz="1500" dirty="0"/>
          </a:p>
        </p:txBody>
      </p:sp>
      <p:sp>
        <p:nvSpPr>
          <p:cNvPr id="26" name="Shape 24"/>
          <p:cNvSpPr/>
          <p:nvPr/>
        </p:nvSpPr>
        <p:spPr>
          <a:xfrm>
            <a:off x="6766560" y="2011680"/>
            <a:ext cx="4937760" cy="777240"/>
          </a:xfrm>
          <a:prstGeom prst="roundRect">
            <a:avLst>
              <a:gd name="adj" fmla="val 9412"/>
            </a:avLst>
          </a:prstGeom>
          <a:solidFill>
            <a:srgbClr val="FFFFFF"/>
          </a:solidFill>
          <a:ln/>
        </p:spPr>
      </p:sp>
      <p:sp>
        <p:nvSpPr>
          <p:cNvPr id="27" name="Shape 25"/>
          <p:cNvSpPr/>
          <p:nvPr/>
        </p:nvSpPr>
        <p:spPr>
          <a:xfrm>
            <a:off x="6995160" y="2231136"/>
            <a:ext cx="347472" cy="347472"/>
          </a:xfrm>
          <a:prstGeom prst="ellipse">
            <a:avLst/>
          </a:prstGeom>
          <a:solidFill>
            <a:srgbClr val="2ECC71"/>
          </a:solidFill>
          <a:ln/>
        </p:spPr>
      </p:sp>
      <p:sp>
        <p:nvSpPr>
          <p:cNvPr id="28" name="Text 26"/>
          <p:cNvSpPr/>
          <p:nvPr/>
        </p:nvSpPr>
        <p:spPr>
          <a:xfrm>
            <a:off x="7498080" y="2084832"/>
            <a:ext cx="4023360" cy="320040"/>
          </a:xfrm>
          <a:prstGeom prst="rect">
            <a:avLst/>
          </a:prstGeom>
          <a:noFill/>
          <a:ln/>
        </p:spPr>
        <p:txBody>
          <a:bodyPr wrap="square" lIns="0" tIns="0" rIns="0" bIns="0" rtlCol="0" anchor="ctr"/>
          <a:lstStyle/>
          <a:p>
            <a:pPr marL="0" indent="0">
              <a:buNone/>
            </a:pPr>
            <a:r>
              <a:rPr lang="en-US" sz="1300" b="1" dirty="0">
                <a:solidFill>
                  <a:srgbClr val="16231C"/>
                </a:solidFill>
                <a:latin typeface="Calibri" pitchFamily="34" charset="0"/>
                <a:ea typeface="Calibri" pitchFamily="34" charset="-122"/>
                <a:cs typeface="Calibri" pitchFamily="34" charset="-120"/>
              </a:rPr>
              <a:t>Green — Low</a:t>
            </a:r>
            <a:endParaRPr lang="en-US" sz="1300" dirty="0"/>
          </a:p>
        </p:txBody>
      </p:sp>
      <p:sp>
        <p:nvSpPr>
          <p:cNvPr id="29" name="Text 27"/>
          <p:cNvSpPr/>
          <p:nvPr/>
        </p:nvSpPr>
        <p:spPr>
          <a:xfrm>
            <a:off x="7498080" y="2395728"/>
            <a:ext cx="4023360" cy="320040"/>
          </a:xfrm>
          <a:prstGeom prst="rect">
            <a:avLst/>
          </a:prstGeom>
          <a:noFill/>
          <a:ln/>
        </p:spPr>
        <p:txBody>
          <a:bodyPr wrap="square" lIns="0" tIns="0" rIns="0" bIns="0" rtlCol="0" anchor="ctr"/>
          <a:lstStyle/>
          <a:p>
            <a:pPr marL="0" indent="0">
              <a:buNone/>
            </a:pPr>
            <a:r>
              <a:rPr lang="en-US" sz="1100" dirty="0">
                <a:solidFill>
                  <a:srgbClr val="526056"/>
                </a:solidFill>
                <a:latin typeface="Calibri" pitchFamily="34" charset="0"/>
                <a:ea typeface="Calibri" pitchFamily="34" charset="-122"/>
                <a:cs typeface="Calibri" pitchFamily="34" charset="-120"/>
              </a:rPr>
              <a:t>0 – 30% full</a:t>
            </a:r>
            <a:endParaRPr lang="en-US" sz="1100" dirty="0"/>
          </a:p>
        </p:txBody>
      </p:sp>
      <p:sp>
        <p:nvSpPr>
          <p:cNvPr id="30" name="Shape 28"/>
          <p:cNvSpPr/>
          <p:nvPr/>
        </p:nvSpPr>
        <p:spPr>
          <a:xfrm>
            <a:off x="6766560" y="2971800"/>
            <a:ext cx="4937760" cy="777240"/>
          </a:xfrm>
          <a:prstGeom prst="roundRect">
            <a:avLst>
              <a:gd name="adj" fmla="val 9412"/>
            </a:avLst>
          </a:prstGeom>
          <a:solidFill>
            <a:srgbClr val="FFFFFF"/>
          </a:solidFill>
          <a:ln/>
        </p:spPr>
      </p:sp>
      <p:sp>
        <p:nvSpPr>
          <p:cNvPr id="31" name="Shape 29"/>
          <p:cNvSpPr/>
          <p:nvPr/>
        </p:nvSpPr>
        <p:spPr>
          <a:xfrm>
            <a:off x="6995160" y="3191256"/>
            <a:ext cx="347472" cy="347472"/>
          </a:xfrm>
          <a:prstGeom prst="ellipse">
            <a:avLst/>
          </a:prstGeom>
          <a:solidFill>
            <a:srgbClr val="F5C518"/>
          </a:solidFill>
          <a:ln/>
        </p:spPr>
      </p:sp>
      <p:sp>
        <p:nvSpPr>
          <p:cNvPr id="32" name="Text 30"/>
          <p:cNvSpPr/>
          <p:nvPr/>
        </p:nvSpPr>
        <p:spPr>
          <a:xfrm>
            <a:off x="7498080" y="3044952"/>
            <a:ext cx="4023360" cy="320040"/>
          </a:xfrm>
          <a:prstGeom prst="rect">
            <a:avLst/>
          </a:prstGeom>
          <a:noFill/>
          <a:ln/>
        </p:spPr>
        <p:txBody>
          <a:bodyPr wrap="square" lIns="0" tIns="0" rIns="0" bIns="0" rtlCol="0" anchor="ctr"/>
          <a:lstStyle/>
          <a:p>
            <a:pPr marL="0" indent="0">
              <a:buNone/>
            </a:pPr>
            <a:r>
              <a:rPr lang="en-US" sz="1300" b="1" dirty="0">
                <a:solidFill>
                  <a:srgbClr val="16231C"/>
                </a:solidFill>
                <a:latin typeface="Calibri" pitchFamily="34" charset="0"/>
                <a:ea typeface="Calibri" pitchFamily="34" charset="-122"/>
                <a:cs typeface="Calibri" pitchFamily="34" charset="-120"/>
              </a:rPr>
              <a:t>Yellow — Medium</a:t>
            </a:r>
            <a:endParaRPr lang="en-US" sz="1300" dirty="0"/>
          </a:p>
        </p:txBody>
      </p:sp>
      <p:sp>
        <p:nvSpPr>
          <p:cNvPr id="33" name="Text 31"/>
          <p:cNvSpPr/>
          <p:nvPr/>
        </p:nvSpPr>
        <p:spPr>
          <a:xfrm>
            <a:off x="7498080" y="3355848"/>
            <a:ext cx="4023360" cy="320040"/>
          </a:xfrm>
          <a:prstGeom prst="rect">
            <a:avLst/>
          </a:prstGeom>
          <a:noFill/>
          <a:ln/>
        </p:spPr>
        <p:txBody>
          <a:bodyPr wrap="square" lIns="0" tIns="0" rIns="0" bIns="0" rtlCol="0" anchor="ctr"/>
          <a:lstStyle/>
          <a:p>
            <a:pPr marL="0" indent="0">
              <a:buNone/>
            </a:pPr>
            <a:r>
              <a:rPr lang="en-US" sz="1100" dirty="0">
                <a:solidFill>
                  <a:srgbClr val="526056"/>
                </a:solidFill>
                <a:latin typeface="Calibri" pitchFamily="34" charset="0"/>
                <a:ea typeface="Calibri" pitchFamily="34" charset="-122"/>
                <a:cs typeface="Calibri" pitchFamily="34" charset="-120"/>
              </a:rPr>
              <a:t>30 – 70% full</a:t>
            </a:r>
            <a:endParaRPr lang="en-US" sz="1100" dirty="0"/>
          </a:p>
        </p:txBody>
      </p:sp>
      <p:sp>
        <p:nvSpPr>
          <p:cNvPr id="34" name="Shape 32"/>
          <p:cNvSpPr/>
          <p:nvPr/>
        </p:nvSpPr>
        <p:spPr>
          <a:xfrm>
            <a:off x="6766560" y="3931920"/>
            <a:ext cx="4937760" cy="777240"/>
          </a:xfrm>
          <a:prstGeom prst="roundRect">
            <a:avLst>
              <a:gd name="adj" fmla="val 9412"/>
            </a:avLst>
          </a:prstGeom>
          <a:solidFill>
            <a:srgbClr val="FFFFFF"/>
          </a:solidFill>
          <a:ln/>
        </p:spPr>
      </p:sp>
      <p:sp>
        <p:nvSpPr>
          <p:cNvPr id="35" name="Shape 33"/>
          <p:cNvSpPr/>
          <p:nvPr/>
        </p:nvSpPr>
        <p:spPr>
          <a:xfrm>
            <a:off x="6995160" y="4151376"/>
            <a:ext cx="347472" cy="347472"/>
          </a:xfrm>
          <a:prstGeom prst="ellipse">
            <a:avLst/>
          </a:prstGeom>
          <a:solidFill>
            <a:srgbClr val="E74C3C"/>
          </a:solidFill>
          <a:ln/>
        </p:spPr>
      </p:sp>
      <p:sp>
        <p:nvSpPr>
          <p:cNvPr id="36" name="Text 34"/>
          <p:cNvSpPr/>
          <p:nvPr/>
        </p:nvSpPr>
        <p:spPr>
          <a:xfrm>
            <a:off x="7498080" y="4005072"/>
            <a:ext cx="4023360" cy="320040"/>
          </a:xfrm>
          <a:prstGeom prst="rect">
            <a:avLst/>
          </a:prstGeom>
          <a:noFill/>
          <a:ln/>
        </p:spPr>
        <p:txBody>
          <a:bodyPr wrap="square" lIns="0" tIns="0" rIns="0" bIns="0" rtlCol="0" anchor="ctr"/>
          <a:lstStyle/>
          <a:p>
            <a:pPr marL="0" indent="0">
              <a:buNone/>
            </a:pPr>
            <a:r>
              <a:rPr lang="en-US" sz="1300" b="1" dirty="0">
                <a:solidFill>
                  <a:srgbClr val="16231C"/>
                </a:solidFill>
                <a:latin typeface="Calibri" pitchFamily="34" charset="0"/>
                <a:ea typeface="Calibri" pitchFamily="34" charset="-122"/>
                <a:cs typeface="Calibri" pitchFamily="34" charset="-120"/>
              </a:rPr>
              <a:t>Red — High</a:t>
            </a:r>
            <a:endParaRPr lang="en-US" sz="1300" dirty="0"/>
          </a:p>
        </p:txBody>
      </p:sp>
      <p:sp>
        <p:nvSpPr>
          <p:cNvPr id="37" name="Text 35"/>
          <p:cNvSpPr/>
          <p:nvPr/>
        </p:nvSpPr>
        <p:spPr>
          <a:xfrm>
            <a:off x="7498080" y="4315968"/>
            <a:ext cx="4023360" cy="320040"/>
          </a:xfrm>
          <a:prstGeom prst="rect">
            <a:avLst/>
          </a:prstGeom>
          <a:noFill/>
          <a:ln/>
        </p:spPr>
        <p:txBody>
          <a:bodyPr wrap="square" lIns="0" tIns="0" rIns="0" bIns="0" rtlCol="0" anchor="ctr"/>
          <a:lstStyle/>
          <a:p>
            <a:pPr marL="0" indent="0">
              <a:buNone/>
            </a:pPr>
            <a:r>
              <a:rPr lang="en-US" sz="1100" dirty="0">
                <a:solidFill>
                  <a:srgbClr val="526056"/>
                </a:solidFill>
                <a:latin typeface="Calibri" pitchFamily="34" charset="0"/>
                <a:ea typeface="Calibri" pitchFamily="34" charset="-122"/>
                <a:cs typeface="Calibri" pitchFamily="34" charset="-120"/>
              </a:rPr>
              <a:t>70 – 100% full, needs collection</a:t>
            </a:r>
            <a:endParaRPr lang="en-US" sz="1100" dirty="0"/>
          </a:p>
        </p:txBody>
      </p:sp>
      <p:sp>
        <p:nvSpPr>
          <p:cNvPr id="38" name="Text 36"/>
          <p:cNvSpPr/>
          <p:nvPr/>
        </p:nvSpPr>
        <p:spPr>
          <a:xfrm>
            <a:off x="6766560" y="5029200"/>
            <a:ext cx="4937760" cy="731520"/>
          </a:xfrm>
          <a:prstGeom prst="rect">
            <a:avLst/>
          </a:prstGeom>
          <a:noFill/>
          <a:ln/>
        </p:spPr>
        <p:txBody>
          <a:bodyPr wrap="square" lIns="0" tIns="0" rIns="0" bIns="0" rtlCol="0" anchor="ctr"/>
          <a:lstStyle/>
          <a:p>
            <a:pPr marL="0" indent="0">
              <a:lnSpc>
                <a:spcPct val="120000"/>
              </a:lnSpc>
              <a:buNone/>
            </a:pPr>
            <a:r>
              <a:rPr lang="en-US" sz="1100" i="1" dirty="0">
                <a:solidFill>
                  <a:srgbClr val="526056"/>
                </a:solidFill>
                <a:latin typeface="Calibri" pitchFamily="34" charset="0"/>
                <a:ea typeface="Calibri" pitchFamily="34" charset="-122"/>
                <a:cs typeface="Calibri" pitchFamily="34" charset="-120"/>
              </a:rPr>
              <a:t>LEDs on each smart bin unit mirror these three states, so fill status is visible at a glance in the physical model.</a:t>
            </a:r>
            <a:endParaRPr lang="en-US" sz="1100" dirty="0"/>
          </a:p>
        </p:txBody>
      </p:sp>
      <p:sp>
        <p:nvSpPr>
          <p:cNvPr id="39" name="Text 37"/>
          <p:cNvSpPr/>
          <p:nvPr/>
        </p:nvSpPr>
        <p:spPr>
          <a:xfrm>
            <a:off x="548640" y="6473952"/>
            <a:ext cx="5486400" cy="274320"/>
          </a:xfrm>
          <a:prstGeom prst="rect">
            <a:avLst/>
          </a:prstGeom>
          <a:noFill/>
          <a:ln/>
        </p:spPr>
        <p:txBody>
          <a:bodyPr wrap="square" lIns="0" tIns="0" rIns="0" bIns="0" rtlCol="0" anchor="ctr"/>
          <a:lstStyle/>
          <a:p>
            <a:pPr marL="0" indent="0">
              <a:buNone/>
            </a:pPr>
            <a:r>
              <a:rPr lang="en-US" sz="900" dirty="0">
                <a:solidFill>
                  <a:srgbClr val="526056"/>
                </a:solidFill>
                <a:latin typeface="Calibri" pitchFamily="34" charset="0"/>
                <a:ea typeface="Calibri" pitchFamily="34" charset="-122"/>
                <a:cs typeface="Calibri" pitchFamily="34" charset="-120"/>
              </a:rPr>
              <a:t>Smart Garbage Monitoring System</a:t>
            </a:r>
            <a:endParaRPr lang="en-US" sz="900" dirty="0"/>
          </a:p>
        </p:txBody>
      </p:sp>
      <p:sp>
        <p:nvSpPr>
          <p:cNvPr id="40" name="Text 38"/>
          <p:cNvSpPr/>
          <p:nvPr/>
        </p:nvSpPr>
        <p:spPr>
          <a:xfrm>
            <a:off x="8899855" y="6473952"/>
            <a:ext cx="2743200" cy="274320"/>
          </a:xfrm>
          <a:prstGeom prst="rect">
            <a:avLst/>
          </a:prstGeom>
          <a:noFill/>
          <a:ln/>
        </p:spPr>
        <p:txBody>
          <a:bodyPr wrap="square" lIns="0" tIns="0" rIns="0" bIns="0" rtlCol="0" anchor="ctr"/>
          <a:lstStyle/>
          <a:p>
            <a:pPr marL="0" indent="0" algn="r">
              <a:buNone/>
            </a:pPr>
            <a:r>
              <a:rPr lang="en-US" sz="900" dirty="0">
                <a:solidFill>
                  <a:srgbClr val="52605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EEF7F1"/>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F6B45"/>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p:nvPr/>
        </p:nvSpPr>
        <p:spPr>
          <a:xfrm>
            <a:off x="1234440" y="411480"/>
            <a:ext cx="9601200" cy="594360"/>
          </a:xfrm>
          <a:prstGeom prst="rect">
            <a:avLst/>
          </a:prstGeom>
          <a:noFill/>
          <a:ln/>
        </p:spPr>
        <p:txBody>
          <a:bodyPr wrap="square" lIns="0" tIns="0" rIns="0" bIns="0" rtlCol="0" anchor="ctr"/>
          <a:lstStyle/>
          <a:p>
            <a:pPr marL="0" indent="0">
              <a:buNone/>
            </a:pPr>
            <a:r>
              <a:rPr lang="en-US" sz="2800" b="1" dirty="0">
                <a:solidFill>
                  <a:srgbClr val="16231C"/>
                </a:solidFill>
                <a:latin typeface="Cambria" pitchFamily="34" charset="0"/>
                <a:ea typeface="Cambria" pitchFamily="34" charset="-122"/>
                <a:cs typeface="Cambria" pitchFamily="34" charset="-120"/>
              </a:rPr>
              <a:t>Prototype Model / Smart Garbage Collection System</a:t>
            </a:r>
            <a:endParaRPr lang="en-US" sz="2800" dirty="0"/>
          </a:p>
        </p:txBody>
      </p:sp>
      <p:sp>
        <p:nvSpPr>
          <p:cNvPr id="5" name="Shape 3"/>
          <p:cNvSpPr/>
          <p:nvPr/>
        </p:nvSpPr>
        <p:spPr>
          <a:xfrm>
            <a:off x="548640" y="1170432"/>
            <a:ext cx="11094415" cy="0"/>
          </a:xfrm>
          <a:prstGeom prst="line">
            <a:avLst/>
          </a:prstGeom>
          <a:noFill/>
          <a:ln w="12700">
            <a:solidFill>
              <a:srgbClr val="DCE7DE"/>
            </a:solidFill>
            <a:prstDash val="solid"/>
          </a:ln>
        </p:spPr>
      </p:sp>
      <p:pic>
        <p:nvPicPr>
          <p:cNvPr id="6" name="Image 0" descr="/home/claude/proto_crop2.png"/>
          <p:cNvPicPr>
            <a:picLocks noChangeAspect="1"/>
          </p:cNvPicPr>
          <p:nvPr/>
        </p:nvPicPr>
        <p:blipFill>
          <a:blip r:embed="rId3"/>
          <a:stretch>
            <a:fillRect/>
          </a:stretch>
        </p:blipFill>
        <p:spPr>
          <a:xfrm>
            <a:off x="5989320" y="1417320"/>
            <a:ext cx="5669280" cy="4919472"/>
          </a:xfrm>
          <a:prstGeom prst="rect">
            <a:avLst/>
          </a:prstGeom>
        </p:spPr>
      </p:pic>
      <p:sp>
        <p:nvSpPr>
          <p:cNvPr id="7" name="Shape 4"/>
          <p:cNvSpPr/>
          <p:nvPr/>
        </p:nvSpPr>
        <p:spPr>
          <a:xfrm>
            <a:off x="5943600" y="1371600"/>
            <a:ext cx="5760720" cy="5010912"/>
          </a:xfrm>
          <a:prstGeom prst="roundRect">
            <a:avLst>
              <a:gd name="adj" fmla="val 730"/>
            </a:avLst>
          </a:prstGeom>
          <a:ln w="12700">
            <a:solidFill>
              <a:srgbClr val="DCE7DE"/>
            </a:solidFill>
            <a:prstDash val="solid"/>
          </a:ln>
        </p:spPr>
      </p:sp>
      <p:sp>
        <p:nvSpPr>
          <p:cNvPr id="8" name="Shape 5"/>
          <p:cNvSpPr/>
          <p:nvPr/>
        </p:nvSpPr>
        <p:spPr>
          <a:xfrm>
            <a:off x="548640" y="1508760"/>
            <a:ext cx="128016" cy="128016"/>
          </a:xfrm>
          <a:prstGeom prst="ellipse">
            <a:avLst/>
          </a:prstGeom>
          <a:solidFill>
            <a:srgbClr val="2E9E5B"/>
          </a:solidFill>
          <a:ln/>
        </p:spPr>
      </p:sp>
      <p:sp>
        <p:nvSpPr>
          <p:cNvPr id="9" name="Text 6"/>
          <p:cNvSpPr/>
          <p:nvPr/>
        </p:nvSpPr>
        <p:spPr>
          <a:xfrm>
            <a:off x="822960" y="1389888"/>
            <a:ext cx="502920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System Architecture</a:t>
            </a:r>
            <a:endParaRPr lang="en-US" sz="1350" dirty="0"/>
          </a:p>
        </p:txBody>
      </p:sp>
      <p:sp>
        <p:nvSpPr>
          <p:cNvPr id="10" name="Text 7"/>
          <p:cNvSpPr/>
          <p:nvPr/>
        </p:nvSpPr>
        <p:spPr>
          <a:xfrm>
            <a:off x="822960" y="1700784"/>
            <a:ext cx="5029200" cy="594360"/>
          </a:xfrm>
          <a:prstGeom prst="rect">
            <a:avLst/>
          </a:prstGeom>
          <a:noFill/>
          <a:ln/>
        </p:spPr>
        <p:txBody>
          <a:bodyPr wrap="square" lIns="0" tIns="0" rIns="0" bIns="0" rtlCol="0" anchor="ctr"/>
          <a:lstStyle/>
          <a:p>
            <a:pPr marL="0" indent="0">
              <a:lnSpc>
                <a:spcPct val="120000"/>
              </a:lnSpc>
              <a:buNone/>
            </a:pPr>
            <a:r>
              <a:rPr lang="en-US" sz="1100" dirty="0">
                <a:solidFill>
                  <a:srgbClr val="526056"/>
                </a:solidFill>
                <a:latin typeface="Calibri" pitchFamily="34" charset="0"/>
                <a:ea typeface="Calibri" pitchFamily="34" charset="-122"/>
                <a:cs typeface="Calibri" pitchFamily="34" charset="-120"/>
              </a:rPr>
              <a:t>Smart bins → IoT sensors → cloud server → live dashboard &amp; driver app.</a:t>
            </a:r>
            <a:endParaRPr lang="en-US" sz="1100" dirty="0"/>
          </a:p>
        </p:txBody>
      </p:sp>
      <p:sp>
        <p:nvSpPr>
          <p:cNvPr id="11" name="Shape 8"/>
          <p:cNvSpPr/>
          <p:nvPr/>
        </p:nvSpPr>
        <p:spPr>
          <a:xfrm>
            <a:off x="548640" y="2560320"/>
            <a:ext cx="128016" cy="128016"/>
          </a:xfrm>
          <a:prstGeom prst="ellipse">
            <a:avLst/>
          </a:prstGeom>
          <a:solidFill>
            <a:srgbClr val="2E9E5B"/>
          </a:solidFill>
          <a:ln/>
        </p:spPr>
      </p:sp>
      <p:sp>
        <p:nvSpPr>
          <p:cNvPr id="12" name="Text 9"/>
          <p:cNvSpPr/>
          <p:nvPr/>
        </p:nvSpPr>
        <p:spPr>
          <a:xfrm>
            <a:off x="822960" y="2441448"/>
            <a:ext cx="502920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Working</a:t>
            </a:r>
            <a:endParaRPr lang="en-US" sz="1350" dirty="0"/>
          </a:p>
        </p:txBody>
      </p:sp>
      <p:sp>
        <p:nvSpPr>
          <p:cNvPr id="13" name="Text 10"/>
          <p:cNvSpPr/>
          <p:nvPr/>
        </p:nvSpPr>
        <p:spPr>
          <a:xfrm>
            <a:off x="822960" y="2752344"/>
            <a:ext cx="5029200" cy="594360"/>
          </a:xfrm>
          <a:prstGeom prst="rect">
            <a:avLst/>
          </a:prstGeom>
          <a:noFill/>
          <a:ln/>
        </p:spPr>
        <p:txBody>
          <a:bodyPr wrap="square" lIns="0" tIns="0" rIns="0" bIns="0" rtlCol="0" anchor="ctr"/>
          <a:lstStyle/>
          <a:p>
            <a:pPr marL="0" indent="0">
              <a:lnSpc>
                <a:spcPct val="120000"/>
              </a:lnSpc>
              <a:buNone/>
            </a:pPr>
            <a:r>
              <a:rPr lang="en-US" sz="1100" dirty="0">
                <a:solidFill>
                  <a:srgbClr val="526056"/>
                </a:solidFill>
                <a:latin typeface="Calibri" pitchFamily="34" charset="0"/>
                <a:ea typeface="Calibri" pitchFamily="34" charset="-122"/>
                <a:cs typeface="Calibri" pitchFamily="34" charset="-120"/>
              </a:rPr>
              <a:t>Bins monitor fill level and send data; the system calculates the optimal route to follow.</a:t>
            </a:r>
            <a:endParaRPr lang="en-US" sz="1100" dirty="0"/>
          </a:p>
        </p:txBody>
      </p:sp>
      <p:sp>
        <p:nvSpPr>
          <p:cNvPr id="14" name="Shape 11"/>
          <p:cNvSpPr/>
          <p:nvPr/>
        </p:nvSpPr>
        <p:spPr>
          <a:xfrm>
            <a:off x="548640" y="3611880"/>
            <a:ext cx="128016" cy="128016"/>
          </a:xfrm>
          <a:prstGeom prst="ellipse">
            <a:avLst/>
          </a:prstGeom>
          <a:solidFill>
            <a:srgbClr val="2E9E5B"/>
          </a:solidFill>
          <a:ln/>
        </p:spPr>
      </p:sp>
      <p:sp>
        <p:nvSpPr>
          <p:cNvPr id="15" name="Text 12"/>
          <p:cNvSpPr/>
          <p:nvPr/>
        </p:nvSpPr>
        <p:spPr>
          <a:xfrm>
            <a:off x="822960" y="3493008"/>
            <a:ext cx="502920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Key Features</a:t>
            </a:r>
            <a:endParaRPr lang="en-US" sz="1350" dirty="0"/>
          </a:p>
        </p:txBody>
      </p:sp>
      <p:sp>
        <p:nvSpPr>
          <p:cNvPr id="16" name="Text 13"/>
          <p:cNvSpPr/>
          <p:nvPr/>
        </p:nvSpPr>
        <p:spPr>
          <a:xfrm>
            <a:off x="822960" y="3803904"/>
            <a:ext cx="5029200" cy="594360"/>
          </a:xfrm>
          <a:prstGeom prst="rect">
            <a:avLst/>
          </a:prstGeom>
          <a:noFill/>
          <a:ln/>
        </p:spPr>
        <p:txBody>
          <a:bodyPr wrap="square" lIns="0" tIns="0" rIns="0" bIns="0" rtlCol="0" anchor="ctr"/>
          <a:lstStyle/>
          <a:p>
            <a:pPr marL="0" indent="0">
              <a:lnSpc>
                <a:spcPct val="120000"/>
              </a:lnSpc>
              <a:buNone/>
            </a:pPr>
            <a:r>
              <a:rPr lang="en-US" sz="1100" dirty="0">
                <a:solidFill>
                  <a:srgbClr val="526056"/>
                </a:solidFill>
                <a:latin typeface="Calibri" pitchFamily="34" charset="0"/>
                <a:ea typeface="Calibri" pitchFamily="34" charset="-122"/>
                <a:cs typeface="Calibri" pitchFamily="34" charset="-120"/>
              </a:rPr>
              <a:t>Real-time fill monitoring, dynamic re-routing, live alerts, reports &amp; analytics.</a:t>
            </a:r>
            <a:endParaRPr lang="en-US" sz="1100" dirty="0"/>
          </a:p>
        </p:txBody>
      </p:sp>
      <p:sp>
        <p:nvSpPr>
          <p:cNvPr id="17" name="Shape 14"/>
          <p:cNvSpPr/>
          <p:nvPr/>
        </p:nvSpPr>
        <p:spPr>
          <a:xfrm>
            <a:off x="548640" y="4663440"/>
            <a:ext cx="128016" cy="128016"/>
          </a:xfrm>
          <a:prstGeom prst="ellipse">
            <a:avLst/>
          </a:prstGeom>
          <a:solidFill>
            <a:srgbClr val="2E9E5B"/>
          </a:solidFill>
          <a:ln/>
        </p:spPr>
      </p:sp>
      <p:sp>
        <p:nvSpPr>
          <p:cNvPr id="18" name="Text 15"/>
          <p:cNvSpPr/>
          <p:nvPr/>
        </p:nvSpPr>
        <p:spPr>
          <a:xfrm>
            <a:off x="822960" y="4544568"/>
            <a:ext cx="502920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Technologies Used</a:t>
            </a:r>
            <a:endParaRPr lang="en-US" sz="1350" dirty="0"/>
          </a:p>
        </p:txBody>
      </p:sp>
      <p:sp>
        <p:nvSpPr>
          <p:cNvPr id="19" name="Text 16"/>
          <p:cNvSpPr/>
          <p:nvPr/>
        </p:nvSpPr>
        <p:spPr>
          <a:xfrm>
            <a:off x="822960" y="4855464"/>
            <a:ext cx="5029200" cy="594360"/>
          </a:xfrm>
          <a:prstGeom prst="rect">
            <a:avLst/>
          </a:prstGeom>
          <a:noFill/>
          <a:ln/>
        </p:spPr>
        <p:txBody>
          <a:bodyPr wrap="square" lIns="0" tIns="0" rIns="0" bIns="0" rtlCol="0" anchor="ctr"/>
          <a:lstStyle/>
          <a:p>
            <a:pPr marL="0" indent="0">
              <a:lnSpc>
                <a:spcPct val="120000"/>
              </a:lnSpc>
              <a:buNone/>
            </a:pPr>
            <a:r>
              <a:rPr lang="en-US" sz="1100" dirty="0">
                <a:solidFill>
                  <a:srgbClr val="526056"/>
                </a:solidFill>
                <a:latin typeface="Calibri" pitchFamily="34" charset="0"/>
                <a:ea typeface="Calibri" pitchFamily="34" charset="-122"/>
                <a:cs typeface="Calibri" pitchFamily="34" charset="-120"/>
              </a:rPr>
              <a:t>Arduino, Firebase, Dijkstra/A* routing, web dashboard.</a:t>
            </a:r>
            <a:endParaRPr lang="en-US" sz="1100" dirty="0"/>
          </a:p>
        </p:txBody>
      </p:sp>
      <p:sp>
        <p:nvSpPr>
          <p:cNvPr id="20" name="Text 17"/>
          <p:cNvSpPr/>
          <p:nvPr/>
        </p:nvSpPr>
        <p:spPr>
          <a:xfrm>
            <a:off x="548640" y="6473952"/>
            <a:ext cx="5486400" cy="274320"/>
          </a:xfrm>
          <a:prstGeom prst="rect">
            <a:avLst/>
          </a:prstGeom>
          <a:noFill/>
          <a:ln/>
        </p:spPr>
        <p:txBody>
          <a:bodyPr wrap="square" lIns="0" tIns="0" rIns="0" bIns="0" rtlCol="0" anchor="ctr"/>
          <a:lstStyle/>
          <a:p>
            <a:pPr marL="0" indent="0">
              <a:buNone/>
            </a:pPr>
            <a:r>
              <a:rPr lang="en-US" sz="900" dirty="0">
                <a:solidFill>
                  <a:srgbClr val="526056"/>
                </a:solidFill>
                <a:latin typeface="Calibri" pitchFamily="34" charset="0"/>
                <a:ea typeface="Calibri" pitchFamily="34" charset="-122"/>
                <a:cs typeface="Calibri" pitchFamily="34" charset="-120"/>
              </a:rPr>
              <a:t>Smart Garbage Monitoring System</a:t>
            </a:r>
            <a:endParaRPr lang="en-US" sz="900" dirty="0"/>
          </a:p>
        </p:txBody>
      </p:sp>
      <p:sp>
        <p:nvSpPr>
          <p:cNvPr id="21" name="Text 18"/>
          <p:cNvSpPr/>
          <p:nvPr/>
        </p:nvSpPr>
        <p:spPr>
          <a:xfrm>
            <a:off x="8899855" y="6473952"/>
            <a:ext cx="2743200" cy="274320"/>
          </a:xfrm>
          <a:prstGeom prst="rect">
            <a:avLst/>
          </a:prstGeom>
          <a:noFill/>
          <a:ln/>
        </p:spPr>
        <p:txBody>
          <a:bodyPr wrap="square" lIns="0" tIns="0" rIns="0" bIns="0" rtlCol="0" anchor="ctr"/>
          <a:lstStyle/>
          <a:p>
            <a:pPr marL="0" indent="0" algn="r">
              <a:buNone/>
            </a:pPr>
            <a:r>
              <a:rPr lang="en-US" sz="900" dirty="0">
                <a:solidFill>
                  <a:srgbClr val="52605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EEF7F1"/>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F6B45"/>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p:nvPr/>
        </p:nvSpPr>
        <p:spPr>
          <a:xfrm>
            <a:off x="1234440" y="411480"/>
            <a:ext cx="9601200" cy="594360"/>
          </a:xfrm>
          <a:prstGeom prst="rect">
            <a:avLst/>
          </a:prstGeom>
          <a:noFill/>
          <a:ln/>
        </p:spPr>
        <p:txBody>
          <a:bodyPr wrap="square" lIns="0" tIns="0" rIns="0" bIns="0" rtlCol="0" anchor="ctr"/>
          <a:lstStyle/>
          <a:p>
            <a:pPr marL="0" indent="0">
              <a:buNone/>
            </a:pPr>
            <a:r>
              <a:rPr lang="en-US" sz="2800" b="1" dirty="0">
                <a:solidFill>
                  <a:srgbClr val="16231C"/>
                </a:solidFill>
                <a:latin typeface="Cambria" pitchFamily="34" charset="0"/>
                <a:ea typeface="Cambria" pitchFamily="34" charset="-122"/>
                <a:cs typeface="Cambria" pitchFamily="34" charset="-120"/>
              </a:rPr>
              <a:t>System Connection Diagram &amp; Model Setup</a:t>
            </a:r>
            <a:endParaRPr lang="en-US" sz="2800" dirty="0"/>
          </a:p>
        </p:txBody>
      </p:sp>
      <p:sp>
        <p:nvSpPr>
          <p:cNvPr id="5" name="Shape 3"/>
          <p:cNvSpPr/>
          <p:nvPr/>
        </p:nvSpPr>
        <p:spPr>
          <a:xfrm>
            <a:off x="548640" y="1170432"/>
            <a:ext cx="11094415" cy="0"/>
          </a:xfrm>
          <a:prstGeom prst="line">
            <a:avLst/>
          </a:prstGeom>
          <a:noFill/>
          <a:ln w="12700">
            <a:solidFill>
              <a:srgbClr val="DCE7DE"/>
            </a:solidFill>
            <a:prstDash val="solid"/>
          </a:ln>
        </p:spPr>
      </p:sp>
      <p:pic>
        <p:nvPicPr>
          <p:cNvPr id="6" name="Image 0" descr="/home/claude/conn_crop.png"/>
          <p:cNvPicPr>
            <a:picLocks noChangeAspect="1"/>
          </p:cNvPicPr>
          <p:nvPr/>
        </p:nvPicPr>
        <p:blipFill>
          <a:blip r:embed="rId3"/>
          <a:stretch>
            <a:fillRect/>
          </a:stretch>
        </p:blipFill>
        <p:spPr>
          <a:xfrm>
            <a:off x="548640" y="1417320"/>
            <a:ext cx="5806440" cy="4919472"/>
          </a:xfrm>
          <a:prstGeom prst="rect">
            <a:avLst/>
          </a:prstGeom>
        </p:spPr>
      </p:pic>
      <p:sp>
        <p:nvSpPr>
          <p:cNvPr id="7" name="Shape 4"/>
          <p:cNvSpPr/>
          <p:nvPr/>
        </p:nvSpPr>
        <p:spPr>
          <a:xfrm>
            <a:off x="502920" y="1371600"/>
            <a:ext cx="5897880" cy="5010912"/>
          </a:xfrm>
          <a:prstGeom prst="roundRect">
            <a:avLst>
              <a:gd name="adj" fmla="val 730"/>
            </a:avLst>
          </a:prstGeom>
          <a:ln w="12700">
            <a:solidFill>
              <a:srgbClr val="DCE7DE"/>
            </a:solidFill>
            <a:prstDash val="solid"/>
          </a:ln>
        </p:spPr>
      </p:sp>
      <p:sp>
        <p:nvSpPr>
          <p:cNvPr id="8" name="Shape 5"/>
          <p:cNvSpPr/>
          <p:nvPr/>
        </p:nvSpPr>
        <p:spPr>
          <a:xfrm>
            <a:off x="6537960" y="1508760"/>
            <a:ext cx="128016" cy="128016"/>
          </a:xfrm>
          <a:prstGeom prst="ellipse">
            <a:avLst/>
          </a:prstGeom>
          <a:solidFill>
            <a:srgbClr val="2E9E5B"/>
          </a:solidFill>
          <a:ln/>
        </p:spPr>
      </p:sp>
      <p:sp>
        <p:nvSpPr>
          <p:cNvPr id="9" name="Text 6"/>
          <p:cNvSpPr/>
          <p:nvPr/>
        </p:nvSpPr>
        <p:spPr>
          <a:xfrm>
            <a:off x="6812280" y="1389888"/>
            <a:ext cx="484632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Controller</a:t>
            </a:r>
            <a:endParaRPr lang="en-US" sz="1350" dirty="0"/>
          </a:p>
        </p:txBody>
      </p:sp>
      <p:sp>
        <p:nvSpPr>
          <p:cNvPr id="10" name="Text 7"/>
          <p:cNvSpPr/>
          <p:nvPr/>
        </p:nvSpPr>
        <p:spPr>
          <a:xfrm>
            <a:off x="6812280" y="1700784"/>
            <a:ext cx="4846320" cy="594360"/>
          </a:xfrm>
          <a:prstGeom prst="rect">
            <a:avLst/>
          </a:prstGeom>
          <a:noFill/>
          <a:ln/>
        </p:spPr>
        <p:txBody>
          <a:bodyPr wrap="square" lIns="0" tIns="0" rIns="0" bIns="0" rtlCol="0" anchor="ctr"/>
          <a:lstStyle/>
          <a:p>
            <a:pPr marL="0" indent="0">
              <a:lnSpc>
                <a:spcPct val="120000"/>
              </a:lnSpc>
              <a:buNone/>
            </a:pPr>
            <a:r>
              <a:rPr lang="en-US" sz="1100" dirty="0">
                <a:solidFill>
                  <a:srgbClr val="526056"/>
                </a:solidFill>
                <a:latin typeface="Calibri" pitchFamily="34" charset="0"/>
                <a:ea typeface="Calibri" pitchFamily="34" charset="-122"/>
                <a:cs typeface="Calibri" pitchFamily="34" charset="-120"/>
              </a:rPr>
              <a:t>Arduino NodeMCU is the central hub, wired to the HC-SR04 sensor.</a:t>
            </a:r>
            <a:endParaRPr lang="en-US" sz="1100" dirty="0"/>
          </a:p>
        </p:txBody>
      </p:sp>
      <p:sp>
        <p:nvSpPr>
          <p:cNvPr id="11" name="Shape 8"/>
          <p:cNvSpPr/>
          <p:nvPr/>
        </p:nvSpPr>
        <p:spPr>
          <a:xfrm>
            <a:off x="6537960" y="2560320"/>
            <a:ext cx="128016" cy="128016"/>
          </a:xfrm>
          <a:prstGeom prst="ellipse">
            <a:avLst/>
          </a:prstGeom>
          <a:solidFill>
            <a:srgbClr val="2E9E5B"/>
          </a:solidFill>
          <a:ln/>
        </p:spPr>
      </p:sp>
      <p:sp>
        <p:nvSpPr>
          <p:cNvPr id="12" name="Text 9"/>
          <p:cNvSpPr/>
          <p:nvPr/>
        </p:nvSpPr>
        <p:spPr>
          <a:xfrm>
            <a:off x="6812280" y="2441448"/>
            <a:ext cx="484632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Alerts</a:t>
            </a:r>
            <a:endParaRPr lang="en-US" sz="1350" dirty="0"/>
          </a:p>
        </p:txBody>
      </p:sp>
      <p:sp>
        <p:nvSpPr>
          <p:cNvPr id="13" name="Text 10"/>
          <p:cNvSpPr/>
          <p:nvPr/>
        </p:nvSpPr>
        <p:spPr>
          <a:xfrm>
            <a:off x="6812280" y="2752344"/>
            <a:ext cx="4846320" cy="594360"/>
          </a:xfrm>
          <a:prstGeom prst="rect">
            <a:avLst/>
          </a:prstGeom>
          <a:noFill/>
          <a:ln/>
        </p:spPr>
        <p:txBody>
          <a:bodyPr wrap="square" lIns="0" tIns="0" rIns="0" bIns="0" rtlCol="0" anchor="ctr"/>
          <a:lstStyle/>
          <a:p>
            <a:pPr marL="0" indent="0">
              <a:lnSpc>
                <a:spcPct val="120000"/>
              </a:lnSpc>
              <a:buNone/>
            </a:pPr>
            <a:r>
              <a:rPr lang="en-US" sz="1100" dirty="0">
                <a:solidFill>
                  <a:srgbClr val="526056"/>
                </a:solidFill>
                <a:latin typeface="Calibri" pitchFamily="34" charset="0"/>
                <a:ea typeface="Calibri" pitchFamily="34" charset="-122"/>
                <a:cs typeface="Calibri" pitchFamily="34" charset="-120"/>
              </a:rPr>
              <a:t>Breadboard carries red/yellow/green LEDs plus a piezo buzzer for local fill-level alerts.</a:t>
            </a:r>
            <a:endParaRPr lang="en-US" sz="1100" dirty="0"/>
          </a:p>
        </p:txBody>
      </p:sp>
      <p:sp>
        <p:nvSpPr>
          <p:cNvPr id="14" name="Shape 11"/>
          <p:cNvSpPr/>
          <p:nvPr/>
        </p:nvSpPr>
        <p:spPr>
          <a:xfrm>
            <a:off x="6537960" y="3611880"/>
            <a:ext cx="128016" cy="128016"/>
          </a:xfrm>
          <a:prstGeom prst="ellipse">
            <a:avLst/>
          </a:prstGeom>
          <a:solidFill>
            <a:srgbClr val="2E9E5B"/>
          </a:solidFill>
          <a:ln/>
        </p:spPr>
      </p:sp>
      <p:sp>
        <p:nvSpPr>
          <p:cNvPr id="15" name="Text 12"/>
          <p:cNvSpPr/>
          <p:nvPr/>
        </p:nvSpPr>
        <p:spPr>
          <a:xfrm>
            <a:off x="6812280" y="3493008"/>
            <a:ext cx="484632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Per-House Units</a:t>
            </a:r>
            <a:endParaRPr lang="en-US" sz="1350" dirty="0"/>
          </a:p>
        </p:txBody>
      </p:sp>
      <p:sp>
        <p:nvSpPr>
          <p:cNvPr id="16" name="Text 13"/>
          <p:cNvSpPr/>
          <p:nvPr/>
        </p:nvSpPr>
        <p:spPr>
          <a:xfrm>
            <a:off x="6812280" y="3803904"/>
            <a:ext cx="4846320" cy="594360"/>
          </a:xfrm>
          <a:prstGeom prst="rect">
            <a:avLst/>
          </a:prstGeom>
          <a:noFill/>
          <a:ln/>
        </p:spPr>
        <p:txBody>
          <a:bodyPr wrap="square" lIns="0" tIns="0" rIns="0" bIns="0" rtlCol="0" anchor="ctr"/>
          <a:lstStyle/>
          <a:p>
            <a:pPr marL="0" indent="0">
              <a:lnSpc>
                <a:spcPct val="120000"/>
              </a:lnSpc>
              <a:buNone/>
            </a:pPr>
            <a:r>
              <a:rPr lang="en-US" sz="1100" dirty="0">
                <a:solidFill>
                  <a:srgbClr val="526056"/>
                </a:solidFill>
                <a:latin typeface="Calibri" pitchFamily="34" charset="0"/>
                <a:ea typeface="Calibri" pitchFamily="34" charset="-122"/>
                <a:cs typeface="Calibri" pitchFamily="34" charset="-120"/>
              </a:rPr>
              <a:t>Each house repeats the same sensor-bin unit; the truck carries its own Arduino.</a:t>
            </a:r>
            <a:endParaRPr lang="en-US" sz="1100" dirty="0"/>
          </a:p>
        </p:txBody>
      </p:sp>
      <p:sp>
        <p:nvSpPr>
          <p:cNvPr id="17" name="Shape 14"/>
          <p:cNvSpPr/>
          <p:nvPr/>
        </p:nvSpPr>
        <p:spPr>
          <a:xfrm>
            <a:off x="6537960" y="4663440"/>
            <a:ext cx="128016" cy="128016"/>
          </a:xfrm>
          <a:prstGeom prst="ellipse">
            <a:avLst/>
          </a:prstGeom>
          <a:solidFill>
            <a:srgbClr val="2E9E5B"/>
          </a:solidFill>
          <a:ln/>
        </p:spPr>
      </p:sp>
      <p:sp>
        <p:nvSpPr>
          <p:cNvPr id="18" name="Text 15"/>
          <p:cNvSpPr/>
          <p:nvPr/>
        </p:nvSpPr>
        <p:spPr>
          <a:xfrm>
            <a:off x="6812280" y="4544568"/>
            <a:ext cx="4846320" cy="320040"/>
          </a:xfrm>
          <a:prstGeom prst="rect">
            <a:avLst/>
          </a:prstGeom>
          <a:noFill/>
          <a:ln/>
        </p:spPr>
        <p:txBody>
          <a:bodyPr wrap="square" lIns="0" tIns="0" rIns="0" bIns="0" rtlCol="0" anchor="ctr"/>
          <a:lstStyle/>
          <a:p>
            <a:pPr marL="0" indent="0">
              <a:buNone/>
            </a:pPr>
            <a:r>
              <a:rPr lang="en-US" sz="1350" b="1" dirty="0">
                <a:solidFill>
                  <a:srgbClr val="16231C"/>
                </a:solidFill>
                <a:latin typeface="Calibri" pitchFamily="34" charset="0"/>
                <a:ea typeface="Calibri" pitchFamily="34" charset="-122"/>
                <a:cs typeface="Calibri" pitchFamily="34" charset="-120"/>
              </a:rPr>
              <a:t>Power Supply</a:t>
            </a:r>
            <a:endParaRPr lang="en-US" sz="1350" dirty="0"/>
          </a:p>
        </p:txBody>
      </p:sp>
      <p:sp>
        <p:nvSpPr>
          <p:cNvPr id="19" name="Text 16"/>
          <p:cNvSpPr/>
          <p:nvPr/>
        </p:nvSpPr>
        <p:spPr>
          <a:xfrm>
            <a:off x="6812280" y="4855464"/>
            <a:ext cx="4846320" cy="594360"/>
          </a:xfrm>
          <a:prstGeom prst="rect">
            <a:avLst/>
          </a:prstGeom>
          <a:noFill/>
          <a:ln/>
        </p:spPr>
        <p:txBody>
          <a:bodyPr wrap="square" lIns="0" tIns="0" rIns="0" bIns="0" rtlCol="0" anchor="ctr"/>
          <a:lstStyle/>
          <a:p>
            <a:pPr marL="0" indent="0">
              <a:lnSpc>
                <a:spcPct val="120000"/>
              </a:lnSpc>
              <a:buNone/>
            </a:pPr>
            <a:r>
              <a:rPr lang="en-US" sz="1100" dirty="0">
                <a:solidFill>
                  <a:srgbClr val="526056"/>
                </a:solidFill>
                <a:latin typeface="Calibri" pitchFamily="34" charset="0"/>
                <a:ea typeface="Calibri" pitchFamily="34" charset="-122"/>
                <a:cs typeface="Calibri" pitchFamily="34" charset="-120"/>
              </a:rPr>
              <a:t>Each unit runs off a 5V USB power bank for portable, exhibition-ready operation.</a:t>
            </a:r>
            <a:endParaRPr lang="en-US" sz="1100" dirty="0"/>
          </a:p>
        </p:txBody>
      </p:sp>
      <p:sp>
        <p:nvSpPr>
          <p:cNvPr id="20" name="Text 17"/>
          <p:cNvSpPr/>
          <p:nvPr/>
        </p:nvSpPr>
        <p:spPr>
          <a:xfrm>
            <a:off x="548640" y="6473952"/>
            <a:ext cx="5486400" cy="274320"/>
          </a:xfrm>
          <a:prstGeom prst="rect">
            <a:avLst/>
          </a:prstGeom>
          <a:noFill/>
          <a:ln/>
        </p:spPr>
        <p:txBody>
          <a:bodyPr wrap="square" lIns="0" tIns="0" rIns="0" bIns="0" rtlCol="0" anchor="ctr"/>
          <a:lstStyle/>
          <a:p>
            <a:pPr marL="0" indent="0">
              <a:buNone/>
            </a:pPr>
            <a:r>
              <a:rPr lang="en-US" sz="900" dirty="0">
                <a:solidFill>
                  <a:srgbClr val="526056"/>
                </a:solidFill>
                <a:latin typeface="Calibri" pitchFamily="34" charset="0"/>
                <a:ea typeface="Calibri" pitchFamily="34" charset="-122"/>
                <a:cs typeface="Calibri" pitchFamily="34" charset="-120"/>
              </a:rPr>
              <a:t>Smart Garbage Monitoring System</a:t>
            </a:r>
            <a:endParaRPr lang="en-US" sz="900" dirty="0"/>
          </a:p>
        </p:txBody>
      </p:sp>
      <p:sp>
        <p:nvSpPr>
          <p:cNvPr id="21" name="Text 18"/>
          <p:cNvSpPr/>
          <p:nvPr/>
        </p:nvSpPr>
        <p:spPr>
          <a:xfrm>
            <a:off x="8899855" y="6473952"/>
            <a:ext cx="2743200" cy="274320"/>
          </a:xfrm>
          <a:prstGeom prst="rect">
            <a:avLst/>
          </a:prstGeom>
          <a:noFill/>
          <a:ln/>
        </p:spPr>
        <p:txBody>
          <a:bodyPr wrap="square" lIns="0" tIns="0" rIns="0" bIns="0" rtlCol="0" anchor="ctr"/>
          <a:lstStyle/>
          <a:p>
            <a:pPr marL="0" indent="0" algn="r">
              <a:buNone/>
            </a:pPr>
            <a:r>
              <a:rPr lang="en-US" sz="900" dirty="0">
                <a:solidFill>
                  <a:srgbClr val="52605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7F1"/>
        </a:solidFill>
        <a:effectLst/>
      </p:bgPr>
    </p:bg>
    <p:spTree>
      <p:nvGrpSpPr>
        <p:cNvPr id="1" name=""/>
        <p:cNvGrpSpPr/>
        <p:nvPr/>
      </p:nvGrpSpPr>
      <p:grpSpPr>
        <a:xfrm>
          <a:off x="0" y="0"/>
          <a:ext cx="0" cy="0"/>
          <a:chOff x="0" y="0"/>
          <a:chExt cx="0" cy="0"/>
        </a:xfrm>
      </p:grpSpPr>
      <p:sp>
        <p:nvSpPr>
          <p:cNvPr id="2" name="Shape 2"/>
          <p:cNvSpPr/>
          <p:nvPr/>
        </p:nvSpPr>
        <p:spPr>
          <a:xfrm>
            <a:off x="548640" y="457200"/>
            <a:ext cx="502920" cy="502920"/>
          </a:xfrm>
          <a:prstGeom prst="ellipse">
            <a:avLst/>
          </a:prstGeom>
          <a:solidFill>
            <a:srgbClr val="1F6B45"/>
          </a:solidFill>
          <a:ln>
            <a:noFill/>
          </a:ln>
        </p:spPr>
      </p:sp>
      <p:sp>
        <p:nvSpPr>
          <p:cNvPr id="3" name="Text 3"/>
          <p:cNvSpPr txBox="1"/>
          <p:nvPr/>
        </p:nvSpPr>
        <p:spPr>
          <a:xfrm>
            <a:off x="548640" y="457200"/>
            <a:ext cx="502920" cy="502920"/>
          </a:xfrm>
          <a:prstGeom prst="rect">
            <a:avLst/>
          </a:prstGeom>
          <a:noFill/>
        </p:spPr>
        <p:txBody>
          <a:bodyPr wrap="square" lIns="0" tIns="0" rIns="0" bIns="0" rtlCol="0" anchor="ctr"/>
          <a:lstStyle/>
          <a:p>
            <a:pPr marL="0" indent="0" algn="ctr">
              <a:buNone/>
            </a:pPr>
            <a:r>
              <a:rPr lang="en-US" sz="1600" b="1" i="0" dirty="0">
                <a:solidFill>
                  <a:srgbClr val="FFFFFF"/>
                </a:solidFill>
                <a:latin typeface="Calibri"/>
                <a:ea typeface="Calibri"/>
                <a:cs typeface="Calibri"/>
              </a:rPr>
              <a:t>—</a:t>
            </a:r>
          </a:p>
        </p:txBody>
      </p:sp>
      <p:sp>
        <p:nvSpPr>
          <p:cNvPr id="4" name="Text 4"/>
          <p:cNvSpPr txBox="1"/>
          <p:nvPr/>
        </p:nvSpPr>
        <p:spPr>
          <a:xfrm>
            <a:off x="1234440" y="411480"/>
            <a:ext cx="9601200" cy="594360"/>
          </a:xfrm>
          <a:prstGeom prst="rect">
            <a:avLst/>
          </a:prstGeom>
          <a:noFill/>
        </p:spPr>
        <p:txBody>
          <a:bodyPr wrap="square" lIns="0" tIns="0" rIns="0" bIns="0" rtlCol="0" anchor="ctr"/>
          <a:lstStyle/>
          <a:p>
            <a:pPr marL="0" indent="0" algn="l">
              <a:buNone/>
            </a:pPr>
            <a:r>
              <a:rPr lang="en-US" sz="2800" b="1" i="0" dirty="0">
                <a:solidFill>
                  <a:srgbClr val="16231C"/>
                </a:solidFill>
                <a:latin typeface="Cambria"/>
                <a:ea typeface="Cambria"/>
                <a:cs typeface="Cambria"/>
              </a:rPr>
              <a:t>Working Prototype: Hardware Setup</a:t>
            </a:r>
          </a:p>
        </p:txBody>
      </p:sp>
      <p:cxnSp>
        <p:nvCxnSpPr>
          <p:cNvPr id="5" name="Line 5"/>
          <p:cNvCxnSpPr/>
          <p:nvPr/>
        </p:nvCxnSpPr>
        <p:spPr>
          <a:xfrm>
            <a:off x="548640" y="1170432"/>
            <a:ext cx="11094415" cy="0"/>
          </a:xfrm>
          <a:prstGeom prst="line">
            <a:avLst/>
          </a:prstGeom>
          <a:ln w="12700">
            <a:solidFill>
              <a:srgbClr val="DCE7DE"/>
            </a:solidFill>
          </a:ln>
        </p:spPr>
      </p:cxnSp>
      <p:sp>
        <p:nvSpPr>
          <p:cNvPr id="6" name="Text 6"/>
          <p:cNvSpPr txBox="1"/>
          <p:nvPr/>
        </p:nvSpPr>
        <p:spPr>
          <a:xfrm>
            <a:off x="548640" y="6473952"/>
            <a:ext cx="5486400" cy="274320"/>
          </a:xfrm>
          <a:prstGeom prst="rect">
            <a:avLst/>
          </a:prstGeom>
          <a:noFill/>
        </p:spPr>
        <p:txBody>
          <a:bodyPr wrap="square" lIns="0" tIns="0" rIns="0" bIns="0" rtlCol="0" anchor="ctr"/>
          <a:lstStyle/>
          <a:p>
            <a:pPr marL="0" indent="0" algn="l">
              <a:buNone/>
            </a:pPr>
            <a:r>
              <a:rPr lang="en-US" sz="900" b="0" i="0" dirty="0">
                <a:solidFill>
                  <a:srgbClr val="526056"/>
                </a:solidFill>
                <a:latin typeface="Calibri"/>
                <a:ea typeface="Calibri"/>
                <a:cs typeface="Calibri"/>
              </a:rPr>
              <a:t>Smart Garbage Monitoring System</a:t>
            </a:r>
          </a:p>
        </p:txBody>
      </p:sp>
      <p:sp>
        <p:nvSpPr>
          <p:cNvPr id="7" name="Text 7"/>
          <p:cNvSpPr txBox="1"/>
          <p:nvPr/>
        </p:nvSpPr>
        <p:spPr>
          <a:xfrm>
            <a:off x="8899855" y="6473952"/>
            <a:ext cx="2743200" cy="274320"/>
          </a:xfrm>
          <a:prstGeom prst="rect">
            <a:avLst/>
          </a:prstGeom>
          <a:noFill/>
        </p:spPr>
        <p:txBody>
          <a:bodyPr wrap="square" lIns="0" tIns="0" rIns="0" bIns="0" rtlCol="0" anchor="ctr"/>
          <a:lstStyle/>
          <a:p>
            <a:pPr marL="0" indent="0" algn="r">
              <a:buNone/>
            </a:pPr>
            <a:r>
              <a:rPr lang="en-US" sz="900" b="0" i="0" dirty="0">
                <a:solidFill>
                  <a:srgbClr val="526056"/>
                </a:solidFill>
                <a:latin typeface="Calibri"/>
                <a:ea typeface="Calibri"/>
                <a:cs typeface="Calibri"/>
              </a:rPr>
              <a:t>10</a:t>
            </a:r>
          </a:p>
        </p:txBody>
      </p:sp>
      <p:sp>
        <p:nvSpPr>
          <p:cNvPr id="8" name="Shape 8"/>
          <p:cNvSpPr/>
          <p:nvPr/>
        </p:nvSpPr>
        <p:spPr>
          <a:xfrm>
            <a:off x="548640" y="1434280"/>
            <a:ext cx="2510190" cy="4391440"/>
          </a:xfrm>
          <a:prstGeom prst="roundRect">
            <a:avLst>
              <a:gd name="adj" fmla="val 1500"/>
            </a:avLst>
          </a:prstGeom>
          <a:solidFill>
            <a:srgbClr val="FFFFFF"/>
          </a:solidFill>
          <a:ln w="12700">
            <a:solidFill>
              <a:srgbClr val="DCE7DE"/>
            </a:solidFill>
          </a:ln>
        </p:spPr>
      </p:sp>
      <p:pic>
        <p:nvPicPr>
          <p:cNvPr id="9" name="Picture 9" descr="Prototype top view with sensors and wiring"/>
          <p:cNvPicPr>
            <a:picLocks noChangeAspect="1"/>
          </p:cNvPicPr>
          <p:nvPr/>
        </p:nvPicPr>
        <p:blipFill>
          <a:blip r:embed="rId2"/>
          <a:stretch>
            <a:fillRect/>
          </a:stretch>
        </p:blipFill>
        <p:spPr>
          <a:xfrm>
            <a:off x="594360" y="1480000"/>
            <a:ext cx="2418750" cy="4300000"/>
          </a:xfrm>
          <a:prstGeom prst="rect">
            <a:avLst/>
          </a:prstGeom>
        </p:spPr>
      </p:pic>
      <p:sp>
        <p:nvSpPr>
          <p:cNvPr id="10" name="Shape 10"/>
          <p:cNvSpPr/>
          <p:nvPr/>
        </p:nvSpPr>
        <p:spPr>
          <a:xfrm>
            <a:off x="3367390" y="1434280"/>
            <a:ext cx="3853940" cy="4391440"/>
          </a:xfrm>
          <a:prstGeom prst="roundRect">
            <a:avLst>
              <a:gd name="adj" fmla="val 1500"/>
            </a:avLst>
          </a:prstGeom>
          <a:solidFill>
            <a:srgbClr val="FFFFFF"/>
          </a:solidFill>
          <a:ln w="12700">
            <a:solidFill>
              <a:srgbClr val="DCE7DE"/>
            </a:solidFill>
          </a:ln>
        </p:spPr>
      </p:sp>
      <p:pic>
        <p:nvPicPr>
          <p:cNvPr id="11" name="Picture 11"/>
          <p:cNvPicPr>
            <a:picLocks noChangeAspect="1"/>
          </p:cNvPicPr>
          <p:nvPr/>
        </p:nvPicPr>
        <p:blipFill>
          <a:blip r:embed="rId3"/>
          <a:srcRect/>
          <a:stretch/>
        </p:blipFill>
        <p:spPr>
          <a:xfrm>
            <a:off x="3413110" y="1494385"/>
            <a:ext cx="3762500" cy="4285614"/>
          </a:xfrm>
          <a:prstGeom prst="rect">
            <a:avLst/>
          </a:prstGeom>
        </p:spPr>
      </p:pic>
      <p:sp>
        <p:nvSpPr>
          <p:cNvPr id="12" name="Text 12"/>
          <p:cNvSpPr txBox="1"/>
          <p:nvPr/>
        </p:nvSpPr>
        <p:spPr>
          <a:xfrm>
            <a:off x="594360" y="5890000"/>
            <a:ext cx="2418750" cy="260000"/>
          </a:xfrm>
          <a:prstGeom prst="rect">
            <a:avLst/>
          </a:prstGeom>
          <a:noFill/>
        </p:spPr>
        <p:txBody>
          <a:bodyPr wrap="square" lIns="0" tIns="0" rIns="0" bIns="0" rtlCol="0" anchor="ctr"/>
          <a:lstStyle/>
          <a:p>
            <a:pPr marL="0" indent="0" algn="ctr">
              <a:buNone/>
            </a:pPr>
            <a:r>
              <a:rPr lang="en-US" sz="1000" b="0" i="1" dirty="0">
                <a:solidFill>
                  <a:srgbClr val="526056"/>
                </a:solidFill>
                <a:latin typeface="Calibri"/>
                <a:ea typeface="Calibri"/>
                <a:cs typeface="Calibri"/>
              </a:rPr>
              <a:t>Wiring on breadboard</a:t>
            </a:r>
          </a:p>
        </p:txBody>
      </p:sp>
      <p:sp>
        <p:nvSpPr>
          <p:cNvPr id="13" name="Text 13"/>
          <p:cNvSpPr txBox="1"/>
          <p:nvPr/>
        </p:nvSpPr>
        <p:spPr>
          <a:xfrm>
            <a:off x="3413110" y="5890000"/>
            <a:ext cx="3762500" cy="260000"/>
          </a:xfrm>
          <a:prstGeom prst="rect">
            <a:avLst/>
          </a:prstGeom>
          <a:noFill/>
        </p:spPr>
        <p:txBody>
          <a:bodyPr wrap="square" lIns="0" tIns="0" rIns="0" bIns="0" rtlCol="0" anchor="ctr"/>
          <a:lstStyle/>
          <a:p>
            <a:pPr marL="0" indent="0" algn="ctr">
              <a:buNone/>
            </a:pPr>
            <a:r>
              <a:rPr lang="en-US" sz="1000" b="0" i="1" dirty="0">
                <a:solidFill>
                  <a:srgbClr val="526056"/>
                </a:solidFill>
                <a:latin typeface="Calibri"/>
                <a:ea typeface="Calibri"/>
                <a:cs typeface="Calibri"/>
              </a:rPr>
              <a:t>Bins, road layout and mini house</a:t>
            </a:r>
          </a:p>
        </p:txBody>
      </p:sp>
      <p:sp>
        <p:nvSpPr>
          <p:cNvPr id="14" name="Shape 14"/>
          <p:cNvSpPr/>
          <p:nvPr/>
        </p:nvSpPr>
        <p:spPr>
          <a:xfrm>
            <a:off x="7675610" y="1620000"/>
            <a:ext cx="128016" cy="128016"/>
          </a:xfrm>
          <a:prstGeom prst="ellipse">
            <a:avLst/>
          </a:prstGeom>
          <a:solidFill>
            <a:srgbClr val="2E9E5B"/>
          </a:solidFill>
          <a:ln>
            <a:noFill/>
          </a:ln>
        </p:spPr>
      </p:sp>
      <p:sp>
        <p:nvSpPr>
          <p:cNvPr id="15" name="Text 15"/>
          <p:cNvSpPr txBox="1"/>
          <p:nvPr/>
        </p:nvSpPr>
        <p:spPr>
          <a:xfrm>
            <a:off x="7949930" y="1560000"/>
            <a:ext cx="369312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Sensor Placement</a:t>
            </a:r>
          </a:p>
        </p:txBody>
      </p:sp>
      <p:sp>
        <p:nvSpPr>
          <p:cNvPr id="16" name="Text 16"/>
          <p:cNvSpPr txBox="1"/>
          <p:nvPr/>
        </p:nvSpPr>
        <p:spPr>
          <a:xfrm>
            <a:off x="7949930" y="1870000"/>
            <a:ext cx="369312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An HC-SR04 ultrasonic sensor is mounted on top of each of the five bins.</a:t>
            </a:r>
          </a:p>
        </p:txBody>
      </p:sp>
      <p:sp>
        <p:nvSpPr>
          <p:cNvPr id="17" name="Shape 17"/>
          <p:cNvSpPr/>
          <p:nvPr/>
        </p:nvSpPr>
        <p:spPr>
          <a:xfrm>
            <a:off x="7675610" y="2970000"/>
            <a:ext cx="128016" cy="128016"/>
          </a:xfrm>
          <a:prstGeom prst="ellipse">
            <a:avLst/>
          </a:prstGeom>
          <a:solidFill>
            <a:srgbClr val="2E9E5B"/>
          </a:solidFill>
          <a:ln>
            <a:noFill/>
          </a:ln>
        </p:spPr>
      </p:sp>
      <p:sp>
        <p:nvSpPr>
          <p:cNvPr id="18" name="Text 18"/>
          <p:cNvSpPr txBox="1"/>
          <p:nvPr/>
        </p:nvSpPr>
        <p:spPr>
          <a:xfrm>
            <a:off x="7949930" y="2910000"/>
            <a:ext cx="369312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Wiring</a:t>
            </a:r>
          </a:p>
        </p:txBody>
      </p:sp>
      <p:sp>
        <p:nvSpPr>
          <p:cNvPr id="19" name="Text 19"/>
          <p:cNvSpPr txBox="1"/>
          <p:nvPr/>
        </p:nvSpPr>
        <p:spPr>
          <a:xfrm>
            <a:off x="7949930" y="3220000"/>
            <a:ext cx="369312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Sensors connect through a breadboard to the Arduino controller with jumper wires.</a:t>
            </a:r>
          </a:p>
        </p:txBody>
      </p:sp>
      <p:sp>
        <p:nvSpPr>
          <p:cNvPr id="20" name="Shape 20"/>
          <p:cNvSpPr/>
          <p:nvPr/>
        </p:nvSpPr>
        <p:spPr>
          <a:xfrm>
            <a:off x="7675610" y="4320000"/>
            <a:ext cx="128016" cy="128016"/>
          </a:xfrm>
          <a:prstGeom prst="ellipse">
            <a:avLst/>
          </a:prstGeom>
          <a:solidFill>
            <a:srgbClr val="2E9E5B"/>
          </a:solidFill>
          <a:ln>
            <a:noFill/>
          </a:ln>
        </p:spPr>
      </p:sp>
      <p:sp>
        <p:nvSpPr>
          <p:cNvPr id="21" name="Text 21"/>
          <p:cNvSpPr txBox="1"/>
          <p:nvPr/>
        </p:nvSpPr>
        <p:spPr>
          <a:xfrm>
            <a:off x="7949930" y="4260000"/>
            <a:ext cx="369312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Town Model</a:t>
            </a:r>
          </a:p>
        </p:txBody>
      </p:sp>
      <p:sp>
        <p:nvSpPr>
          <p:cNvPr id="22" name="Text 22"/>
          <p:cNvSpPr txBox="1"/>
          <p:nvPr/>
        </p:nvSpPr>
        <p:spPr>
          <a:xfrm>
            <a:off x="7949930" y="4570000"/>
            <a:ext cx="369312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Bins sit beside a painted road layout with a mini house, so the truck route is easy to show.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7F1"/>
        </a:solidFill>
        <a:effectLst/>
      </p:bgPr>
    </p:bg>
    <p:spTree>
      <p:nvGrpSpPr>
        <p:cNvPr id="1" name=""/>
        <p:cNvGrpSpPr/>
        <p:nvPr/>
      </p:nvGrpSpPr>
      <p:grpSpPr>
        <a:xfrm>
          <a:off x="0" y="0"/>
          <a:ext cx="0" cy="0"/>
          <a:chOff x="0" y="0"/>
          <a:chExt cx="0" cy="0"/>
        </a:xfrm>
      </p:grpSpPr>
      <p:sp>
        <p:nvSpPr>
          <p:cNvPr id="2" name="Shape 2"/>
          <p:cNvSpPr/>
          <p:nvPr/>
        </p:nvSpPr>
        <p:spPr>
          <a:xfrm>
            <a:off x="548640" y="457200"/>
            <a:ext cx="502920" cy="502920"/>
          </a:xfrm>
          <a:prstGeom prst="ellipse">
            <a:avLst/>
          </a:prstGeom>
          <a:solidFill>
            <a:srgbClr val="1F6B45"/>
          </a:solidFill>
          <a:ln>
            <a:noFill/>
          </a:ln>
        </p:spPr>
      </p:sp>
      <p:sp>
        <p:nvSpPr>
          <p:cNvPr id="3" name="Text 3"/>
          <p:cNvSpPr txBox="1"/>
          <p:nvPr/>
        </p:nvSpPr>
        <p:spPr>
          <a:xfrm>
            <a:off x="548640" y="457200"/>
            <a:ext cx="502920" cy="502920"/>
          </a:xfrm>
          <a:prstGeom prst="rect">
            <a:avLst/>
          </a:prstGeom>
          <a:noFill/>
        </p:spPr>
        <p:txBody>
          <a:bodyPr wrap="square" lIns="0" tIns="0" rIns="0" bIns="0" rtlCol="0" anchor="ctr"/>
          <a:lstStyle/>
          <a:p>
            <a:pPr marL="0" indent="0" algn="ctr">
              <a:buNone/>
            </a:pPr>
            <a:r>
              <a:rPr lang="en-US" sz="1600" b="1" i="0" dirty="0">
                <a:solidFill>
                  <a:srgbClr val="FFFFFF"/>
                </a:solidFill>
                <a:latin typeface="Calibri"/>
                <a:ea typeface="Calibri"/>
                <a:cs typeface="Calibri"/>
              </a:rPr>
              <a:t>—</a:t>
            </a:r>
          </a:p>
        </p:txBody>
      </p:sp>
      <p:sp>
        <p:nvSpPr>
          <p:cNvPr id="4" name="Text 4"/>
          <p:cNvSpPr txBox="1"/>
          <p:nvPr/>
        </p:nvSpPr>
        <p:spPr>
          <a:xfrm>
            <a:off x="1234440" y="411480"/>
            <a:ext cx="9601200" cy="594360"/>
          </a:xfrm>
          <a:prstGeom prst="rect">
            <a:avLst/>
          </a:prstGeom>
          <a:noFill/>
        </p:spPr>
        <p:txBody>
          <a:bodyPr wrap="square" lIns="0" tIns="0" rIns="0" bIns="0" rtlCol="0" anchor="ctr"/>
          <a:lstStyle/>
          <a:p>
            <a:pPr marL="0" indent="0" algn="l">
              <a:buNone/>
            </a:pPr>
            <a:r>
              <a:rPr lang="en-US" sz="2800" b="1" i="0" dirty="0">
                <a:solidFill>
                  <a:srgbClr val="16231C"/>
                </a:solidFill>
                <a:latin typeface="Cambria"/>
                <a:ea typeface="Cambria"/>
                <a:cs typeface="Cambria"/>
              </a:rPr>
              <a:t>Dashboard: Reports &amp; Analytics</a:t>
            </a:r>
          </a:p>
        </p:txBody>
      </p:sp>
      <p:cxnSp>
        <p:nvCxnSpPr>
          <p:cNvPr id="5" name="Line 5"/>
          <p:cNvCxnSpPr/>
          <p:nvPr/>
        </p:nvCxnSpPr>
        <p:spPr>
          <a:xfrm>
            <a:off x="548640" y="1170432"/>
            <a:ext cx="11094415" cy="0"/>
          </a:xfrm>
          <a:prstGeom prst="line">
            <a:avLst/>
          </a:prstGeom>
          <a:ln w="12700">
            <a:solidFill>
              <a:srgbClr val="DCE7DE"/>
            </a:solidFill>
          </a:ln>
        </p:spPr>
      </p:cxnSp>
      <p:sp>
        <p:nvSpPr>
          <p:cNvPr id="6" name="Text 6"/>
          <p:cNvSpPr txBox="1"/>
          <p:nvPr/>
        </p:nvSpPr>
        <p:spPr>
          <a:xfrm>
            <a:off x="548640" y="6473952"/>
            <a:ext cx="5486400" cy="274320"/>
          </a:xfrm>
          <a:prstGeom prst="rect">
            <a:avLst/>
          </a:prstGeom>
          <a:noFill/>
        </p:spPr>
        <p:txBody>
          <a:bodyPr wrap="square" lIns="0" tIns="0" rIns="0" bIns="0" rtlCol="0" anchor="ctr"/>
          <a:lstStyle/>
          <a:p>
            <a:pPr marL="0" indent="0" algn="l">
              <a:buNone/>
            </a:pPr>
            <a:r>
              <a:rPr lang="en-US" sz="900" b="0" i="0" dirty="0">
                <a:solidFill>
                  <a:srgbClr val="526056"/>
                </a:solidFill>
                <a:latin typeface="Calibri"/>
                <a:ea typeface="Calibri"/>
                <a:cs typeface="Calibri"/>
              </a:rPr>
              <a:t>Smart Garbage Monitoring System</a:t>
            </a:r>
          </a:p>
        </p:txBody>
      </p:sp>
      <p:sp>
        <p:nvSpPr>
          <p:cNvPr id="7" name="Text 7"/>
          <p:cNvSpPr txBox="1"/>
          <p:nvPr/>
        </p:nvSpPr>
        <p:spPr>
          <a:xfrm>
            <a:off x="8899855" y="6473952"/>
            <a:ext cx="2743200" cy="274320"/>
          </a:xfrm>
          <a:prstGeom prst="rect">
            <a:avLst/>
          </a:prstGeom>
          <a:noFill/>
        </p:spPr>
        <p:txBody>
          <a:bodyPr wrap="square" lIns="0" tIns="0" rIns="0" bIns="0" rtlCol="0" anchor="ctr"/>
          <a:lstStyle/>
          <a:p>
            <a:pPr marL="0" indent="0" algn="r">
              <a:buNone/>
            </a:pPr>
            <a:r>
              <a:rPr lang="en-US" sz="900" b="0" i="0" dirty="0">
                <a:solidFill>
                  <a:srgbClr val="526056"/>
                </a:solidFill>
                <a:latin typeface="Calibri"/>
                <a:ea typeface="Calibri"/>
                <a:cs typeface="Calibri"/>
              </a:rPr>
              <a:t>11</a:t>
            </a:r>
          </a:p>
        </p:txBody>
      </p:sp>
      <p:sp>
        <p:nvSpPr>
          <p:cNvPr id="8" name="Shape 8"/>
          <p:cNvSpPr/>
          <p:nvPr/>
        </p:nvSpPr>
        <p:spPr>
          <a:xfrm>
            <a:off x="548640" y="1434280"/>
            <a:ext cx="7591440" cy="4236782"/>
          </a:xfrm>
          <a:prstGeom prst="roundRect">
            <a:avLst>
              <a:gd name="adj" fmla="val 1500"/>
            </a:avLst>
          </a:prstGeom>
          <a:solidFill>
            <a:srgbClr val="FFFFFF"/>
          </a:solidFill>
          <a:ln w="12700">
            <a:solidFill>
              <a:srgbClr val="DCE7DE"/>
            </a:solidFill>
          </a:ln>
        </p:spPr>
      </p:sp>
      <p:pic>
        <p:nvPicPr>
          <p:cNvPr id="9" name="Picture 9" descr="Reports and analytics dashboard"/>
          <p:cNvPicPr>
            <a:picLocks noChangeAspect="1"/>
          </p:cNvPicPr>
          <p:nvPr/>
        </p:nvPicPr>
        <p:blipFill>
          <a:blip r:embed="rId2"/>
          <a:stretch>
            <a:fillRect/>
          </a:stretch>
        </p:blipFill>
        <p:spPr>
          <a:xfrm>
            <a:off x="594360" y="1480000"/>
            <a:ext cx="7500000" cy="4145342"/>
          </a:xfrm>
          <a:prstGeom prst="rect">
            <a:avLst/>
          </a:prstGeom>
        </p:spPr>
      </p:pic>
      <p:sp>
        <p:nvSpPr>
          <p:cNvPr id="10" name="Shape 10"/>
          <p:cNvSpPr/>
          <p:nvPr/>
        </p:nvSpPr>
        <p:spPr>
          <a:xfrm>
            <a:off x="8594360" y="1620000"/>
            <a:ext cx="128016" cy="128016"/>
          </a:xfrm>
          <a:prstGeom prst="ellipse">
            <a:avLst/>
          </a:prstGeom>
          <a:solidFill>
            <a:srgbClr val="2E9E5B"/>
          </a:solidFill>
          <a:ln>
            <a:noFill/>
          </a:ln>
        </p:spPr>
      </p:sp>
      <p:sp>
        <p:nvSpPr>
          <p:cNvPr id="11" name="Text 11"/>
          <p:cNvSpPr txBox="1"/>
          <p:nvPr/>
        </p:nvSpPr>
        <p:spPr>
          <a:xfrm>
            <a:off x="8868680" y="1560000"/>
            <a:ext cx="277437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Savings Summary</a:t>
            </a:r>
          </a:p>
        </p:txBody>
      </p:sp>
      <p:sp>
        <p:nvSpPr>
          <p:cNvPr id="12" name="Text 12"/>
          <p:cNvSpPr txBox="1"/>
          <p:nvPr/>
        </p:nvSpPr>
        <p:spPr>
          <a:xfrm>
            <a:off x="8868680" y="1870000"/>
            <a:ext cx="277437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Shows 9.80 L diesel saved and 25.92 kg CO2 averted over 50 completed trips.</a:t>
            </a:r>
          </a:p>
        </p:txBody>
      </p:sp>
      <p:sp>
        <p:nvSpPr>
          <p:cNvPr id="13" name="Shape 13"/>
          <p:cNvSpPr/>
          <p:nvPr/>
        </p:nvSpPr>
        <p:spPr>
          <a:xfrm>
            <a:off x="8594360" y="2870000"/>
            <a:ext cx="128016" cy="128016"/>
          </a:xfrm>
          <a:prstGeom prst="ellipse">
            <a:avLst/>
          </a:prstGeom>
          <a:solidFill>
            <a:srgbClr val="2E9E5B"/>
          </a:solidFill>
          <a:ln>
            <a:noFill/>
          </a:ln>
        </p:spPr>
      </p:sp>
      <p:sp>
        <p:nvSpPr>
          <p:cNvPr id="14" name="Text 14"/>
          <p:cNvSpPr txBox="1"/>
          <p:nvPr/>
        </p:nvSpPr>
        <p:spPr>
          <a:xfrm>
            <a:off x="8868680" y="2810000"/>
            <a:ext cx="277437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Fill-Level Chart</a:t>
            </a:r>
          </a:p>
        </p:txBody>
      </p:sp>
      <p:sp>
        <p:nvSpPr>
          <p:cNvPr id="15" name="Text 15"/>
          <p:cNvSpPr txBox="1"/>
          <p:nvPr/>
        </p:nvSpPr>
        <p:spPr>
          <a:xfrm>
            <a:off x="8868680" y="3120000"/>
            <a:ext cx="277437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Bar chart of each bin against the 80% collection threshold.</a:t>
            </a:r>
          </a:p>
        </p:txBody>
      </p:sp>
      <p:sp>
        <p:nvSpPr>
          <p:cNvPr id="16" name="Shape 16"/>
          <p:cNvSpPr/>
          <p:nvPr/>
        </p:nvSpPr>
        <p:spPr>
          <a:xfrm>
            <a:off x="8594360" y="4120000"/>
            <a:ext cx="128016" cy="128016"/>
          </a:xfrm>
          <a:prstGeom prst="ellipse">
            <a:avLst/>
          </a:prstGeom>
          <a:solidFill>
            <a:srgbClr val="2E9E5B"/>
          </a:solidFill>
          <a:ln>
            <a:noFill/>
          </a:ln>
        </p:spPr>
      </p:sp>
      <p:sp>
        <p:nvSpPr>
          <p:cNvPr id="17" name="Text 17"/>
          <p:cNvSpPr txBox="1"/>
          <p:nvPr/>
        </p:nvSpPr>
        <p:spPr>
          <a:xfrm>
            <a:off x="8868680" y="4060000"/>
            <a:ext cx="277437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Trip History</a:t>
            </a:r>
          </a:p>
        </p:txBody>
      </p:sp>
      <p:sp>
        <p:nvSpPr>
          <p:cNvPr id="18" name="Text 18"/>
          <p:cNvSpPr txBox="1"/>
          <p:nvPr/>
        </p:nvSpPr>
        <p:spPr>
          <a:xfrm>
            <a:off x="8868680" y="4370000"/>
            <a:ext cx="277437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Line chart of kilometres saved per run, plus a log of every trip.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7F1"/>
        </a:solidFill>
        <a:effectLst/>
      </p:bgPr>
    </p:bg>
    <p:spTree>
      <p:nvGrpSpPr>
        <p:cNvPr id="1" name=""/>
        <p:cNvGrpSpPr/>
        <p:nvPr/>
      </p:nvGrpSpPr>
      <p:grpSpPr>
        <a:xfrm>
          <a:off x="0" y="0"/>
          <a:ext cx="0" cy="0"/>
          <a:chOff x="0" y="0"/>
          <a:chExt cx="0" cy="0"/>
        </a:xfrm>
      </p:grpSpPr>
      <p:sp>
        <p:nvSpPr>
          <p:cNvPr id="2" name="Shape 2"/>
          <p:cNvSpPr/>
          <p:nvPr/>
        </p:nvSpPr>
        <p:spPr>
          <a:xfrm>
            <a:off x="548640" y="457200"/>
            <a:ext cx="502920" cy="502920"/>
          </a:xfrm>
          <a:prstGeom prst="ellipse">
            <a:avLst/>
          </a:prstGeom>
          <a:solidFill>
            <a:srgbClr val="1F6B45"/>
          </a:solidFill>
          <a:ln>
            <a:noFill/>
          </a:ln>
        </p:spPr>
      </p:sp>
      <p:sp>
        <p:nvSpPr>
          <p:cNvPr id="3" name="Text 3"/>
          <p:cNvSpPr txBox="1"/>
          <p:nvPr/>
        </p:nvSpPr>
        <p:spPr>
          <a:xfrm>
            <a:off x="548640" y="457200"/>
            <a:ext cx="502920" cy="502920"/>
          </a:xfrm>
          <a:prstGeom prst="rect">
            <a:avLst/>
          </a:prstGeom>
          <a:noFill/>
        </p:spPr>
        <p:txBody>
          <a:bodyPr wrap="square" lIns="0" tIns="0" rIns="0" bIns="0" rtlCol="0" anchor="ctr"/>
          <a:lstStyle/>
          <a:p>
            <a:pPr marL="0" indent="0" algn="ctr">
              <a:buNone/>
            </a:pPr>
            <a:r>
              <a:rPr lang="en-US" sz="1600" b="1" i="0" dirty="0">
                <a:solidFill>
                  <a:srgbClr val="FFFFFF"/>
                </a:solidFill>
                <a:latin typeface="Calibri"/>
                <a:ea typeface="Calibri"/>
                <a:cs typeface="Calibri"/>
              </a:rPr>
              <a:t>—</a:t>
            </a:r>
          </a:p>
        </p:txBody>
      </p:sp>
      <p:sp>
        <p:nvSpPr>
          <p:cNvPr id="4" name="Text 4"/>
          <p:cNvSpPr txBox="1"/>
          <p:nvPr/>
        </p:nvSpPr>
        <p:spPr>
          <a:xfrm>
            <a:off x="1234440" y="411480"/>
            <a:ext cx="9601200" cy="594360"/>
          </a:xfrm>
          <a:prstGeom prst="rect">
            <a:avLst/>
          </a:prstGeom>
          <a:noFill/>
        </p:spPr>
        <p:txBody>
          <a:bodyPr wrap="square" lIns="0" tIns="0" rIns="0" bIns="0" rtlCol="0" anchor="ctr"/>
          <a:lstStyle/>
          <a:p>
            <a:pPr marL="0" indent="0" algn="l">
              <a:buNone/>
            </a:pPr>
            <a:r>
              <a:rPr lang="en-US" sz="2800" b="1" i="0" dirty="0">
                <a:solidFill>
                  <a:srgbClr val="16231C"/>
                </a:solidFill>
                <a:latin typeface="Cambria"/>
                <a:ea typeface="Cambria"/>
                <a:cs typeface="Cambria"/>
              </a:rPr>
              <a:t>Dashboard: Live Bin Monitoring</a:t>
            </a:r>
          </a:p>
        </p:txBody>
      </p:sp>
      <p:cxnSp>
        <p:nvCxnSpPr>
          <p:cNvPr id="5" name="Line 5"/>
          <p:cNvCxnSpPr/>
          <p:nvPr/>
        </p:nvCxnSpPr>
        <p:spPr>
          <a:xfrm>
            <a:off x="548640" y="1170432"/>
            <a:ext cx="11094415" cy="0"/>
          </a:xfrm>
          <a:prstGeom prst="line">
            <a:avLst/>
          </a:prstGeom>
          <a:ln w="12700">
            <a:solidFill>
              <a:srgbClr val="DCE7DE"/>
            </a:solidFill>
          </a:ln>
        </p:spPr>
      </p:cxnSp>
      <p:sp>
        <p:nvSpPr>
          <p:cNvPr id="6" name="Text 6"/>
          <p:cNvSpPr txBox="1"/>
          <p:nvPr/>
        </p:nvSpPr>
        <p:spPr>
          <a:xfrm>
            <a:off x="548640" y="6473952"/>
            <a:ext cx="5486400" cy="274320"/>
          </a:xfrm>
          <a:prstGeom prst="rect">
            <a:avLst/>
          </a:prstGeom>
          <a:noFill/>
        </p:spPr>
        <p:txBody>
          <a:bodyPr wrap="square" lIns="0" tIns="0" rIns="0" bIns="0" rtlCol="0" anchor="ctr"/>
          <a:lstStyle/>
          <a:p>
            <a:pPr marL="0" indent="0" algn="l">
              <a:buNone/>
            </a:pPr>
            <a:r>
              <a:rPr lang="en-US" sz="900" b="0" i="0" dirty="0">
                <a:solidFill>
                  <a:srgbClr val="526056"/>
                </a:solidFill>
                <a:latin typeface="Calibri"/>
                <a:ea typeface="Calibri"/>
                <a:cs typeface="Calibri"/>
              </a:rPr>
              <a:t>Smart Garbage Monitoring System</a:t>
            </a:r>
          </a:p>
        </p:txBody>
      </p:sp>
      <p:sp>
        <p:nvSpPr>
          <p:cNvPr id="7" name="Text 7"/>
          <p:cNvSpPr txBox="1"/>
          <p:nvPr/>
        </p:nvSpPr>
        <p:spPr>
          <a:xfrm>
            <a:off x="8899855" y="6473952"/>
            <a:ext cx="2743200" cy="274320"/>
          </a:xfrm>
          <a:prstGeom prst="rect">
            <a:avLst/>
          </a:prstGeom>
          <a:noFill/>
        </p:spPr>
        <p:txBody>
          <a:bodyPr wrap="square" lIns="0" tIns="0" rIns="0" bIns="0" rtlCol="0" anchor="ctr"/>
          <a:lstStyle/>
          <a:p>
            <a:pPr marL="0" indent="0" algn="r">
              <a:buNone/>
            </a:pPr>
            <a:r>
              <a:rPr lang="en-US" sz="900" b="0" i="0" dirty="0">
                <a:solidFill>
                  <a:srgbClr val="526056"/>
                </a:solidFill>
                <a:latin typeface="Calibri"/>
                <a:ea typeface="Calibri"/>
                <a:cs typeface="Calibri"/>
              </a:rPr>
              <a:t>12</a:t>
            </a:r>
          </a:p>
        </p:txBody>
      </p:sp>
      <p:sp>
        <p:nvSpPr>
          <p:cNvPr id="8" name="Shape 8"/>
          <p:cNvSpPr/>
          <p:nvPr/>
        </p:nvSpPr>
        <p:spPr>
          <a:xfrm>
            <a:off x="548640" y="1434280"/>
            <a:ext cx="7591440" cy="3929019"/>
          </a:xfrm>
          <a:prstGeom prst="roundRect">
            <a:avLst>
              <a:gd name="adj" fmla="val 1500"/>
            </a:avLst>
          </a:prstGeom>
          <a:solidFill>
            <a:srgbClr val="FFFFFF"/>
          </a:solidFill>
          <a:ln w="12700">
            <a:solidFill>
              <a:srgbClr val="DCE7DE"/>
            </a:solidFill>
          </a:ln>
        </p:spPr>
      </p:sp>
      <p:pic>
        <p:nvPicPr>
          <p:cNvPr id="9" name="Picture 9" descr="Live monitoring dashboard"/>
          <p:cNvPicPr>
            <a:picLocks noChangeAspect="1"/>
          </p:cNvPicPr>
          <p:nvPr/>
        </p:nvPicPr>
        <p:blipFill>
          <a:blip r:embed="rId2"/>
          <a:stretch>
            <a:fillRect/>
          </a:stretch>
        </p:blipFill>
        <p:spPr>
          <a:xfrm>
            <a:off x="594360" y="1480000"/>
            <a:ext cx="7500000" cy="3837579"/>
          </a:xfrm>
          <a:prstGeom prst="rect">
            <a:avLst/>
          </a:prstGeom>
        </p:spPr>
      </p:pic>
      <p:sp>
        <p:nvSpPr>
          <p:cNvPr id="10" name="Shape 10"/>
          <p:cNvSpPr/>
          <p:nvPr/>
        </p:nvSpPr>
        <p:spPr>
          <a:xfrm>
            <a:off x="8594360" y="1620000"/>
            <a:ext cx="128016" cy="128016"/>
          </a:xfrm>
          <a:prstGeom prst="ellipse">
            <a:avLst/>
          </a:prstGeom>
          <a:solidFill>
            <a:srgbClr val="2E9E5B"/>
          </a:solidFill>
          <a:ln>
            <a:noFill/>
          </a:ln>
        </p:spPr>
      </p:sp>
      <p:sp>
        <p:nvSpPr>
          <p:cNvPr id="11" name="Text 11"/>
          <p:cNvSpPr txBox="1"/>
          <p:nvPr/>
        </p:nvSpPr>
        <p:spPr>
          <a:xfrm>
            <a:off x="8868680" y="1560000"/>
            <a:ext cx="277437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Live Fill Levels</a:t>
            </a:r>
          </a:p>
        </p:txBody>
      </p:sp>
      <p:sp>
        <p:nvSpPr>
          <p:cNvPr id="12" name="Text 12"/>
          <p:cNvSpPr txBox="1"/>
          <p:nvPr/>
        </p:nvSpPr>
        <p:spPr>
          <a:xfrm>
            <a:off x="8868680" y="1870000"/>
            <a:ext cx="277437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Cards for Houses 1 to 5 show fill percentage and distance to the waste.</a:t>
            </a:r>
          </a:p>
        </p:txBody>
      </p:sp>
      <p:sp>
        <p:nvSpPr>
          <p:cNvPr id="13" name="Shape 13"/>
          <p:cNvSpPr/>
          <p:nvPr/>
        </p:nvSpPr>
        <p:spPr>
          <a:xfrm>
            <a:off x="8594360" y="2870000"/>
            <a:ext cx="128016" cy="128016"/>
          </a:xfrm>
          <a:prstGeom prst="ellipse">
            <a:avLst/>
          </a:prstGeom>
          <a:solidFill>
            <a:srgbClr val="2E9E5B"/>
          </a:solidFill>
          <a:ln>
            <a:noFill/>
          </a:ln>
        </p:spPr>
      </p:sp>
      <p:sp>
        <p:nvSpPr>
          <p:cNvPr id="14" name="Text 14"/>
          <p:cNvSpPr txBox="1"/>
          <p:nvPr/>
        </p:nvSpPr>
        <p:spPr>
          <a:xfrm>
            <a:off x="8868680" y="2810000"/>
            <a:ext cx="277437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Simulation Sliders</a:t>
            </a:r>
          </a:p>
        </p:txBody>
      </p:sp>
      <p:sp>
        <p:nvSpPr>
          <p:cNvPr id="15" name="Text 15"/>
          <p:cNvSpPr txBox="1"/>
          <p:nvPr/>
        </p:nvSpPr>
        <p:spPr>
          <a:xfrm>
            <a:off x="8868680" y="3120000"/>
            <a:ext cx="277437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Each bin level can be simulated without hardware for demos.</a:t>
            </a:r>
          </a:p>
        </p:txBody>
      </p:sp>
      <p:sp>
        <p:nvSpPr>
          <p:cNvPr id="16" name="Shape 16"/>
          <p:cNvSpPr/>
          <p:nvPr/>
        </p:nvSpPr>
        <p:spPr>
          <a:xfrm>
            <a:off x="8594360" y="4120000"/>
            <a:ext cx="128016" cy="128016"/>
          </a:xfrm>
          <a:prstGeom prst="ellipse">
            <a:avLst/>
          </a:prstGeom>
          <a:solidFill>
            <a:srgbClr val="2E9E5B"/>
          </a:solidFill>
          <a:ln>
            <a:noFill/>
          </a:ln>
        </p:spPr>
      </p:sp>
      <p:sp>
        <p:nvSpPr>
          <p:cNvPr id="17" name="Text 17"/>
          <p:cNvSpPr txBox="1"/>
          <p:nvPr/>
        </p:nvSpPr>
        <p:spPr>
          <a:xfrm>
            <a:off x="8868680" y="4060000"/>
            <a:ext cx="277437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Serial Stream</a:t>
            </a:r>
          </a:p>
        </p:txBody>
      </p:sp>
      <p:sp>
        <p:nvSpPr>
          <p:cNvPr id="18" name="Text 18"/>
          <p:cNvSpPr txBox="1"/>
          <p:nvPr/>
        </p:nvSpPr>
        <p:spPr>
          <a:xfrm>
            <a:off x="8868680" y="4370000"/>
            <a:ext cx="277437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Arduino sends one line of five readings at 9600 baud to the web app.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7F1"/>
        </a:solidFill>
        <a:effectLst/>
      </p:bgPr>
    </p:bg>
    <p:spTree>
      <p:nvGrpSpPr>
        <p:cNvPr id="1" name=""/>
        <p:cNvGrpSpPr/>
        <p:nvPr/>
      </p:nvGrpSpPr>
      <p:grpSpPr>
        <a:xfrm>
          <a:off x="0" y="0"/>
          <a:ext cx="0" cy="0"/>
          <a:chOff x="0" y="0"/>
          <a:chExt cx="0" cy="0"/>
        </a:xfrm>
      </p:grpSpPr>
      <p:sp>
        <p:nvSpPr>
          <p:cNvPr id="2" name="Shape 2"/>
          <p:cNvSpPr/>
          <p:nvPr/>
        </p:nvSpPr>
        <p:spPr>
          <a:xfrm>
            <a:off x="548640" y="457200"/>
            <a:ext cx="502920" cy="502920"/>
          </a:xfrm>
          <a:prstGeom prst="ellipse">
            <a:avLst/>
          </a:prstGeom>
          <a:solidFill>
            <a:srgbClr val="1F6B45"/>
          </a:solidFill>
          <a:ln>
            <a:noFill/>
          </a:ln>
        </p:spPr>
      </p:sp>
      <p:sp>
        <p:nvSpPr>
          <p:cNvPr id="3" name="Text 3"/>
          <p:cNvSpPr txBox="1"/>
          <p:nvPr/>
        </p:nvSpPr>
        <p:spPr>
          <a:xfrm>
            <a:off x="548640" y="457200"/>
            <a:ext cx="502920" cy="502920"/>
          </a:xfrm>
          <a:prstGeom prst="rect">
            <a:avLst/>
          </a:prstGeom>
          <a:noFill/>
        </p:spPr>
        <p:txBody>
          <a:bodyPr wrap="square" lIns="0" tIns="0" rIns="0" bIns="0" rtlCol="0" anchor="ctr"/>
          <a:lstStyle/>
          <a:p>
            <a:pPr marL="0" indent="0" algn="ctr">
              <a:buNone/>
            </a:pPr>
            <a:r>
              <a:rPr lang="en-US" sz="1600" b="1" i="0" dirty="0">
                <a:solidFill>
                  <a:srgbClr val="FFFFFF"/>
                </a:solidFill>
                <a:latin typeface="Calibri"/>
                <a:ea typeface="Calibri"/>
                <a:cs typeface="Calibri"/>
              </a:rPr>
              <a:t>—</a:t>
            </a:r>
          </a:p>
        </p:txBody>
      </p:sp>
      <p:sp>
        <p:nvSpPr>
          <p:cNvPr id="4" name="Text 4"/>
          <p:cNvSpPr txBox="1"/>
          <p:nvPr/>
        </p:nvSpPr>
        <p:spPr>
          <a:xfrm>
            <a:off x="1234440" y="411480"/>
            <a:ext cx="9601200" cy="594360"/>
          </a:xfrm>
          <a:prstGeom prst="rect">
            <a:avLst/>
          </a:prstGeom>
          <a:noFill/>
        </p:spPr>
        <p:txBody>
          <a:bodyPr wrap="square" lIns="0" tIns="0" rIns="0" bIns="0" rtlCol="0" anchor="ctr"/>
          <a:lstStyle/>
          <a:p>
            <a:pPr marL="0" indent="0" algn="l">
              <a:buNone/>
            </a:pPr>
            <a:r>
              <a:rPr lang="en-US" sz="2800" b="1" i="0" dirty="0">
                <a:solidFill>
                  <a:srgbClr val="16231C"/>
                </a:solidFill>
                <a:latin typeface="Cambria"/>
                <a:ea typeface="Cambria"/>
                <a:cs typeface="Cambria"/>
              </a:rPr>
              <a:t>Dashboard: Smart City Dispatch Map</a:t>
            </a:r>
          </a:p>
        </p:txBody>
      </p:sp>
      <p:cxnSp>
        <p:nvCxnSpPr>
          <p:cNvPr id="5" name="Line 5"/>
          <p:cNvCxnSpPr/>
          <p:nvPr/>
        </p:nvCxnSpPr>
        <p:spPr>
          <a:xfrm>
            <a:off x="548640" y="1170432"/>
            <a:ext cx="11094415" cy="0"/>
          </a:xfrm>
          <a:prstGeom prst="line">
            <a:avLst/>
          </a:prstGeom>
          <a:ln w="12700">
            <a:solidFill>
              <a:srgbClr val="DCE7DE"/>
            </a:solidFill>
          </a:ln>
        </p:spPr>
      </p:cxnSp>
      <p:sp>
        <p:nvSpPr>
          <p:cNvPr id="6" name="Text 6"/>
          <p:cNvSpPr txBox="1"/>
          <p:nvPr/>
        </p:nvSpPr>
        <p:spPr>
          <a:xfrm>
            <a:off x="548640" y="6473952"/>
            <a:ext cx="5486400" cy="274320"/>
          </a:xfrm>
          <a:prstGeom prst="rect">
            <a:avLst/>
          </a:prstGeom>
          <a:noFill/>
        </p:spPr>
        <p:txBody>
          <a:bodyPr wrap="square" lIns="0" tIns="0" rIns="0" bIns="0" rtlCol="0" anchor="ctr"/>
          <a:lstStyle/>
          <a:p>
            <a:pPr marL="0" indent="0" algn="l">
              <a:buNone/>
            </a:pPr>
            <a:r>
              <a:rPr lang="en-US" sz="900" b="0" i="0" dirty="0">
                <a:solidFill>
                  <a:srgbClr val="526056"/>
                </a:solidFill>
                <a:latin typeface="Calibri"/>
                <a:ea typeface="Calibri"/>
                <a:cs typeface="Calibri"/>
              </a:rPr>
              <a:t>Smart Garbage Monitoring System</a:t>
            </a:r>
          </a:p>
        </p:txBody>
      </p:sp>
      <p:sp>
        <p:nvSpPr>
          <p:cNvPr id="7" name="Text 7"/>
          <p:cNvSpPr txBox="1"/>
          <p:nvPr/>
        </p:nvSpPr>
        <p:spPr>
          <a:xfrm>
            <a:off x="8899855" y="6473952"/>
            <a:ext cx="2743200" cy="274320"/>
          </a:xfrm>
          <a:prstGeom prst="rect">
            <a:avLst/>
          </a:prstGeom>
          <a:noFill/>
        </p:spPr>
        <p:txBody>
          <a:bodyPr wrap="square" lIns="0" tIns="0" rIns="0" bIns="0" rtlCol="0" anchor="ctr"/>
          <a:lstStyle/>
          <a:p>
            <a:pPr marL="0" indent="0" algn="r">
              <a:buNone/>
            </a:pPr>
            <a:r>
              <a:rPr lang="en-US" sz="900" b="0" i="0" dirty="0">
                <a:solidFill>
                  <a:srgbClr val="526056"/>
                </a:solidFill>
                <a:latin typeface="Calibri"/>
                <a:ea typeface="Calibri"/>
                <a:cs typeface="Calibri"/>
              </a:rPr>
              <a:t>13</a:t>
            </a:r>
          </a:p>
        </p:txBody>
      </p:sp>
      <p:sp>
        <p:nvSpPr>
          <p:cNvPr id="8" name="Shape 8"/>
          <p:cNvSpPr/>
          <p:nvPr/>
        </p:nvSpPr>
        <p:spPr>
          <a:xfrm>
            <a:off x="548640" y="1434280"/>
            <a:ext cx="7591440" cy="3856291"/>
          </a:xfrm>
          <a:prstGeom prst="roundRect">
            <a:avLst>
              <a:gd name="adj" fmla="val 1500"/>
            </a:avLst>
          </a:prstGeom>
          <a:solidFill>
            <a:srgbClr val="FFFFFF"/>
          </a:solidFill>
          <a:ln w="12700">
            <a:solidFill>
              <a:srgbClr val="DCE7DE"/>
            </a:solidFill>
          </a:ln>
        </p:spPr>
      </p:sp>
      <p:pic>
        <p:nvPicPr>
          <p:cNvPr id="9" name="Picture 9" descr="Overview dispatch map"/>
          <p:cNvPicPr>
            <a:picLocks noChangeAspect="1"/>
          </p:cNvPicPr>
          <p:nvPr/>
        </p:nvPicPr>
        <p:blipFill>
          <a:blip r:embed="rId2"/>
          <a:stretch>
            <a:fillRect/>
          </a:stretch>
        </p:blipFill>
        <p:spPr>
          <a:xfrm>
            <a:off x="594360" y="1480000"/>
            <a:ext cx="7500000" cy="3764851"/>
          </a:xfrm>
          <a:prstGeom prst="rect">
            <a:avLst/>
          </a:prstGeom>
        </p:spPr>
      </p:pic>
      <p:sp>
        <p:nvSpPr>
          <p:cNvPr id="10" name="Shape 10"/>
          <p:cNvSpPr/>
          <p:nvPr/>
        </p:nvSpPr>
        <p:spPr>
          <a:xfrm>
            <a:off x="8594360" y="1620000"/>
            <a:ext cx="128016" cy="128016"/>
          </a:xfrm>
          <a:prstGeom prst="ellipse">
            <a:avLst/>
          </a:prstGeom>
          <a:solidFill>
            <a:srgbClr val="2E9E5B"/>
          </a:solidFill>
          <a:ln>
            <a:noFill/>
          </a:ln>
        </p:spPr>
      </p:sp>
      <p:sp>
        <p:nvSpPr>
          <p:cNvPr id="11" name="Text 11"/>
          <p:cNvSpPr txBox="1"/>
          <p:nvPr/>
        </p:nvSpPr>
        <p:spPr>
          <a:xfrm>
            <a:off x="8868680" y="1560000"/>
            <a:ext cx="277437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Route on Map</a:t>
            </a:r>
          </a:p>
        </p:txBody>
      </p:sp>
      <p:sp>
        <p:nvSpPr>
          <p:cNvPr id="12" name="Text 12"/>
          <p:cNvSpPr txBox="1"/>
          <p:nvPr/>
        </p:nvSpPr>
        <p:spPr>
          <a:xfrm>
            <a:off x="8868680" y="1870000"/>
            <a:ext cx="277437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Truck follows a real road route from the depot to the bins that need collection.</a:t>
            </a:r>
          </a:p>
        </p:txBody>
      </p:sp>
      <p:sp>
        <p:nvSpPr>
          <p:cNvPr id="13" name="Shape 13"/>
          <p:cNvSpPr/>
          <p:nvPr/>
        </p:nvSpPr>
        <p:spPr>
          <a:xfrm>
            <a:off x="8594360" y="2870000"/>
            <a:ext cx="128016" cy="128016"/>
          </a:xfrm>
          <a:prstGeom prst="ellipse">
            <a:avLst/>
          </a:prstGeom>
          <a:solidFill>
            <a:srgbClr val="2E9E5B"/>
          </a:solidFill>
          <a:ln>
            <a:noFill/>
          </a:ln>
        </p:spPr>
      </p:sp>
      <p:sp>
        <p:nvSpPr>
          <p:cNvPr id="14" name="Text 14"/>
          <p:cNvSpPr txBox="1"/>
          <p:nvPr/>
        </p:nvSpPr>
        <p:spPr>
          <a:xfrm>
            <a:off x="8868680" y="2810000"/>
            <a:ext cx="277437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Live Telemetry</a:t>
            </a:r>
          </a:p>
        </p:txBody>
      </p:sp>
      <p:sp>
        <p:nvSpPr>
          <p:cNvPr id="15" name="Text 15"/>
          <p:cNvSpPr txBox="1"/>
          <p:nvPr/>
        </p:nvSpPr>
        <p:spPr>
          <a:xfrm>
            <a:off x="8868680" y="3120000"/>
            <a:ext cx="277437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Side panel lists each house, its fill level and status.</a:t>
            </a:r>
          </a:p>
        </p:txBody>
      </p:sp>
      <p:sp>
        <p:nvSpPr>
          <p:cNvPr id="16" name="Shape 16"/>
          <p:cNvSpPr/>
          <p:nvPr/>
        </p:nvSpPr>
        <p:spPr>
          <a:xfrm>
            <a:off x="8594360" y="4120000"/>
            <a:ext cx="128016" cy="128016"/>
          </a:xfrm>
          <a:prstGeom prst="ellipse">
            <a:avLst/>
          </a:prstGeom>
          <a:solidFill>
            <a:srgbClr val="2E9E5B"/>
          </a:solidFill>
          <a:ln>
            <a:noFill/>
          </a:ln>
        </p:spPr>
      </p:sp>
      <p:sp>
        <p:nvSpPr>
          <p:cNvPr id="17" name="Text 17"/>
          <p:cNvSpPr txBox="1"/>
          <p:nvPr/>
        </p:nvSpPr>
        <p:spPr>
          <a:xfrm>
            <a:off x="8868680" y="4060000"/>
            <a:ext cx="2774375" cy="300000"/>
          </a:xfrm>
          <a:prstGeom prst="rect">
            <a:avLst/>
          </a:prstGeom>
          <a:noFill/>
        </p:spPr>
        <p:txBody>
          <a:bodyPr wrap="square" lIns="0" tIns="0" rIns="0" bIns="0" rtlCol="0" anchor="ctr"/>
          <a:lstStyle/>
          <a:p>
            <a:pPr marL="0" indent="0" algn="l">
              <a:buNone/>
            </a:pPr>
            <a:r>
              <a:rPr lang="en-US" sz="1350" b="1" i="0" dirty="0">
                <a:solidFill>
                  <a:srgbClr val="16231C"/>
                </a:solidFill>
                <a:latin typeface="Calibri"/>
                <a:ea typeface="Calibri"/>
                <a:cs typeface="Calibri"/>
              </a:rPr>
              <a:t>Savings</a:t>
            </a:r>
          </a:p>
        </p:txBody>
      </p:sp>
      <p:sp>
        <p:nvSpPr>
          <p:cNvPr id="18" name="Text 18"/>
          <p:cNvSpPr txBox="1"/>
          <p:nvPr/>
        </p:nvSpPr>
        <p:spPr>
          <a:xfrm>
            <a:off x="8868680" y="4370000"/>
            <a:ext cx="2774375" cy="620000"/>
          </a:xfrm>
          <a:prstGeom prst="rect">
            <a:avLst/>
          </a:prstGeom>
          <a:noFill/>
        </p:spPr>
        <p:txBody>
          <a:bodyPr wrap="square" lIns="0" tIns="0" rIns="0" bIns="0" rtlCol="0" anchor="t"/>
          <a:lstStyle/>
          <a:p>
            <a:pPr marL="0" indent="0" algn="l">
              <a:lnSpc>
                <a:spcPct val="120000"/>
              </a:lnSpc>
              <a:buNone/>
            </a:pPr>
            <a:r>
              <a:rPr lang="en-US" sz="1100" b="0" i="0" dirty="0">
                <a:solidFill>
                  <a:srgbClr val="526056"/>
                </a:solidFill>
                <a:latin typeface="Calibri"/>
                <a:ea typeface="Calibri"/>
                <a:cs typeface="Calibri"/>
              </a:rPr>
              <a:t>The active loop skips low bins and saves 51.6% fuel and distance.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7F1"/>
        </a:solidFill>
        <a:effectLst/>
      </p:bgPr>
    </p:bg>
    <p:spTree>
      <p:nvGrpSpPr>
        <p:cNvPr id="1" name=""/>
        <p:cNvGrpSpPr/>
        <p:nvPr/>
      </p:nvGrpSpPr>
      <p:grpSpPr>
        <a:xfrm>
          <a:off x="0" y="0"/>
          <a:ext cx="0" cy="0"/>
          <a:chOff x="0" y="0"/>
          <a:chExt cx="0" cy="0"/>
        </a:xfrm>
      </p:grpSpPr>
      <p:sp>
        <p:nvSpPr>
          <p:cNvPr id="2" name="Shape 2"/>
          <p:cNvSpPr/>
          <p:nvPr/>
        </p:nvSpPr>
        <p:spPr>
          <a:xfrm>
            <a:off x="9100000" y="-1300000"/>
            <a:ext cx="4200000" cy="4200000"/>
          </a:xfrm>
          <a:prstGeom prst="ellipse">
            <a:avLst/>
          </a:prstGeom>
          <a:solidFill>
            <a:srgbClr val="DCEBDF"/>
          </a:solidFill>
          <a:ln>
            <a:noFill/>
          </a:ln>
        </p:spPr>
      </p:sp>
      <p:sp>
        <p:nvSpPr>
          <p:cNvPr id="3" name="Shape 3"/>
          <p:cNvSpPr/>
          <p:nvPr/>
        </p:nvSpPr>
        <p:spPr>
          <a:xfrm>
            <a:off x="-900000" y="4900000"/>
            <a:ext cx="3200000" cy="3200000"/>
          </a:xfrm>
          <a:prstGeom prst="ellipse">
            <a:avLst/>
          </a:prstGeom>
          <a:solidFill>
            <a:srgbClr val="DCEBDF"/>
          </a:solidFill>
          <a:ln>
            <a:noFill/>
          </a:ln>
        </p:spPr>
      </p:sp>
      <p:sp>
        <p:nvSpPr>
          <p:cNvPr id="4" name="Text 4"/>
          <p:cNvSpPr txBox="1"/>
          <p:nvPr/>
        </p:nvSpPr>
        <p:spPr>
          <a:xfrm>
            <a:off x="548640" y="2250000"/>
            <a:ext cx="11094415" cy="300000"/>
          </a:xfrm>
          <a:prstGeom prst="rect">
            <a:avLst/>
          </a:prstGeom>
          <a:noFill/>
        </p:spPr>
        <p:txBody>
          <a:bodyPr wrap="square" lIns="0" tIns="0" rIns="0" bIns="0" rtlCol="0" anchor="ctr"/>
          <a:lstStyle/>
          <a:p>
            <a:pPr marL="0" indent="0" algn="ctr">
              <a:buNone/>
            </a:pPr>
            <a:r>
              <a:rPr lang="en-US" sz="1200" b="1" i="0" dirty="0">
                <a:solidFill>
                  <a:srgbClr val="1F6B45"/>
                </a:solidFill>
                <a:latin typeface="Calibri"/>
                <a:ea typeface="Calibri"/>
                <a:cs typeface="Calibri"/>
              </a:rPr>
              <a:t>SMART GARBAGE MONITORING SYSTEM</a:t>
            </a:r>
          </a:p>
        </p:txBody>
      </p:sp>
      <p:sp>
        <p:nvSpPr>
          <p:cNvPr id="5" name="Text 5"/>
          <p:cNvSpPr txBox="1"/>
          <p:nvPr/>
        </p:nvSpPr>
        <p:spPr>
          <a:xfrm>
            <a:off x="548640" y="2650000"/>
            <a:ext cx="11094415" cy="1000000"/>
          </a:xfrm>
          <a:prstGeom prst="rect">
            <a:avLst/>
          </a:prstGeom>
          <a:noFill/>
        </p:spPr>
        <p:txBody>
          <a:bodyPr wrap="square" lIns="0" tIns="0" rIns="0" bIns="0" rtlCol="0" anchor="ctr"/>
          <a:lstStyle/>
          <a:p>
            <a:pPr marL="0" indent="0" algn="ctr">
              <a:buNone/>
            </a:pPr>
            <a:r>
              <a:rPr lang="en-US" sz="5400" b="1" i="0" dirty="0">
                <a:solidFill>
                  <a:srgbClr val="16231C"/>
                </a:solidFill>
                <a:latin typeface="Cambria"/>
                <a:ea typeface="Cambria"/>
                <a:cs typeface="Cambria"/>
              </a:rPr>
              <a:t>Thank You</a:t>
            </a:r>
          </a:p>
        </p:txBody>
      </p:sp>
      <p:sp>
        <p:nvSpPr>
          <p:cNvPr id="6" name="Text 6"/>
          <p:cNvSpPr txBox="1"/>
          <p:nvPr/>
        </p:nvSpPr>
        <p:spPr>
          <a:xfrm>
            <a:off x="548640" y="3750000"/>
            <a:ext cx="11094415" cy="400000"/>
          </a:xfrm>
          <a:prstGeom prst="rect">
            <a:avLst/>
          </a:prstGeom>
          <a:noFill/>
        </p:spPr>
        <p:txBody>
          <a:bodyPr wrap="square" lIns="0" tIns="0" rIns="0" bIns="0" rtlCol="0" anchor="ctr"/>
          <a:lstStyle/>
          <a:p>
            <a:pPr marL="0" indent="0" algn="ctr">
              <a:buNone/>
            </a:pPr>
            <a:r>
              <a:rPr lang="en-US" sz="1800" b="0" i="0" dirty="0">
                <a:solidFill>
                  <a:srgbClr val="526056"/>
                </a:solidFill>
                <a:latin typeface="Calibri"/>
                <a:ea typeface="Calibri"/>
                <a:cs typeface="Calibri"/>
              </a:rPr>
              <a:t>Smart House-to-House Garbage Collection Route Optimizer</a:t>
            </a:r>
          </a:p>
        </p:txBody>
      </p:sp>
      <p:sp>
        <p:nvSpPr>
          <p:cNvPr id="7" name="Text 7"/>
          <p:cNvSpPr txBox="1"/>
          <p:nvPr/>
        </p:nvSpPr>
        <p:spPr>
          <a:xfrm>
            <a:off x="548640" y="6473952"/>
            <a:ext cx="5486400" cy="274320"/>
          </a:xfrm>
          <a:prstGeom prst="rect">
            <a:avLst/>
          </a:prstGeom>
          <a:noFill/>
        </p:spPr>
        <p:txBody>
          <a:bodyPr wrap="square" lIns="0" tIns="0" rIns="0" bIns="0" rtlCol="0" anchor="ctr"/>
          <a:lstStyle/>
          <a:p>
            <a:pPr marL="0" indent="0" algn="l">
              <a:buNone/>
            </a:pPr>
            <a:r>
              <a:rPr lang="en-US" sz="900" b="0" i="0" dirty="0">
                <a:solidFill>
                  <a:srgbClr val="526056"/>
                </a:solidFill>
                <a:latin typeface="Calibri"/>
                <a:ea typeface="Calibri"/>
                <a:cs typeface="Calibri"/>
              </a:rPr>
              <a:t>Smart Garbage Monitoring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6B45"/>
      </a:dk2>
      <a:lt2>
        <a:srgbClr val="EEF7F1"/>
      </a:lt2>
      <a:accent1>
        <a:srgbClr val="2E9E5B"/>
      </a:accent1>
      <a:accent2>
        <a:srgbClr val="8BC34A"/>
      </a:accent2>
      <a:accent3>
        <a:srgbClr val="526056"/>
      </a:accent3>
      <a:accent4>
        <a:srgbClr val="F5C518"/>
      </a:accent4>
      <a:accent5>
        <a:srgbClr val="1C7293"/>
      </a:accent5>
      <a:accent6>
        <a:srgbClr val="6FB38A"/>
      </a:accent6>
      <a:hlink>
        <a:srgbClr val="1F6B45"/>
      </a:hlink>
      <a:folHlink>
        <a:srgbClr val="52605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1096</Words>
  <Application>Microsoft Office PowerPoint</Application>
  <PresentationFormat>Widescreen</PresentationFormat>
  <Paragraphs>254</Paragraphs>
  <Slides>13</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Maanas C</cp:lastModifiedBy>
  <cp:revision>2</cp:revision>
  <dcterms:created xsi:type="dcterms:W3CDTF">2026-08-08T16:57:57Z</dcterms:created>
  <dcterms:modified xsi:type="dcterms:W3CDTF">2026-10-29T10:41:29Z</dcterms:modified>
</cp:coreProperties>
</file>